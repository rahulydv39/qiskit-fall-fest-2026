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822960"/>
            <a:ext cx="2011680" cy="2011680"/>
          </a:xfrm>
          <a:prstGeom prst="ellipse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03120"/>
            <a:ext cx="1188720" cy="1188720"/>
          </a:xfrm>
          <a:prstGeom prst="ellipse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2834640"/>
            <a:ext cx="731520" cy="731520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931920"/>
            <a:ext cx="502920" cy="502920"/>
          </a:xfrm>
          <a:prstGeom prst="ellipse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4754880"/>
            <a:ext cx="365760" cy="365760"/>
          </a:xfrm>
          <a:prstGeom prst="ellipse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6949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CCDBE"/>
                </a:solidFill>
                <a:latin typeface="Aptos"/>
              </a:rPr>
              <a:t>QISKIT FALL FEST 2026  •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9494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5F8FC"/>
                </a:solidFill>
                <a:latin typeface="Aptos"/>
              </a:rPr>
              <a:t>Quantum Optimization
&amp; Quantum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017520"/>
            <a:ext cx="6492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B4C3D7"/>
                </a:solidFill>
                <a:latin typeface="Aptos"/>
              </a:rPr>
              <a:t>From classical baselines to real IBM Quantum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069080"/>
            <a:ext cx="6675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457"/>
                </a:solidFill>
                <a:latin typeface="Aptos"/>
              </a:rPr>
              <a:t>TEAM  •  SUPERPOSITION SQUAD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526280"/>
            <a:ext cx="68580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Rahul Kumar  |  Alden Antony  |  Krishna Aggarwal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806440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16 October 2026  •  IIIT Delhi / Quantica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Three levels that move from learning quantum circuits to evaluating optimization and QML.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520440" cy="141732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141732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319125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BEGINNER • 6 stocks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41448"/>
            <a:ext cx="3172968" cy="7406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Build a small QAOA portfolio optimizer. Compare 20 possible portfolios with simulation and IBM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41732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64008" cy="141732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020824"/>
            <a:ext cx="319125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INTERMEDIATE • 12 stocks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41448"/>
            <a:ext cx="3172968" cy="7406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Use a quantum fidelity kernel with an SVM; compare classification and ranking with a classical RBF-SVM.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520440" cy="141732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64008" cy="141732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020824"/>
            <a:ext cx="319125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ADVANCED • 20 stocks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41448"/>
            <a:ext cx="3172968" cy="7406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Add cardinality and sector constraints; validate a cost Hamiltonian and test a deeper QAOA circuit.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5F8FC"/>
                </a:solidFill>
                <a:latin typeface="Aptos"/>
              </a:rPr>
              <a:t>Core question: how do quantum algorithms behave on a clearly defined optimization problem—and what changes when a circuit moves from simulation to noisy hardware?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074920"/>
            <a:ext cx="106070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4C3D7"/>
                </a:solidFill>
                <a:latin typeface="Aptos"/>
              </a:rPr>
              <a:t>Our standard: establish a classical reference, preserve measurement evidence, report limitations, and avoid claiming quantum advantage without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Why portfolio optimization?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A familiar example makes the underlying combinatorial problem easier to understand.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19456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4C3D7"/>
                </a:solidFill>
                <a:latin typeface="Aptos"/>
              </a:rPr>
              <a:t>Which assets should be included in a portfolio?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219456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4C3D7"/>
                </a:solidFill>
                <a:latin typeface="Aptos"/>
              </a:rPr>
              <a:t>Higher expected return can come with higher risk; a model expresses the trade-off.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28800"/>
            <a:ext cx="64008" cy="219456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Constrain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4C3D7"/>
                </a:solidFill>
                <a:latin typeface="Aptos"/>
              </a:rPr>
              <a:t>The portfolio must obey a fixed selection count and, in the advanced case, sector limits.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104241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7676"/>
                </a:solidFill>
                <a:latin typeface="Aptos"/>
              </a:rPr>
              <a:t>Important: all stock data in these notebooks are synthetic. This is a controlled algorithm demonstration—not financial advice or a real-market forecast.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Quantum ideas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A compact mental model before the implementation details.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22860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28600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14553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Qubit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127248" cy="1609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A two-level quantum system. Measurement returns a classical outcome such as 0 or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74720" cy="22860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228600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14553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Superposition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127248" cy="1609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Hadamard gates can create amplitudes over multiple bitstrings; measurement samples one outcome.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22860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28600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14553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Entanglement &amp; interference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127248" cy="1609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CNOT and phase operations create correlations; amplitudes can reinforce or cancel.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4241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A quantum circuit does not print the answer directly. It prepares a state, measurements produce samples, and classical code interprets those samples.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How QAOA works: a hybrid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Quantum circuit and classical optimizer have different jobs.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2148840" cy="18288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64008" cy="182880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86584"/>
            <a:ext cx="181965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1. 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07208"/>
            <a:ext cx="1801368" cy="11521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Convert the objective into a cost Hamiltonian.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80360"/>
            <a:ext cx="228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CCDB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2240280"/>
            <a:ext cx="2148840" cy="18288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2240280"/>
            <a:ext cx="64008" cy="182880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386584"/>
            <a:ext cx="181965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2. 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807208"/>
            <a:ext cx="1801368" cy="11521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Create a parameterized circuit using γ and 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2880360"/>
            <a:ext cx="228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CCDB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2240280"/>
            <a:ext cx="2148840" cy="18288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02936" y="2240280"/>
            <a:ext cx="64008" cy="182880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3" y="2386584"/>
            <a:ext cx="181965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3.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3" y="2807208"/>
            <a:ext cx="1801368" cy="11521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Sample bitstrings from the circuit.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5" y="2880360"/>
            <a:ext cx="228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CCDB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52944" y="2240280"/>
            <a:ext cx="2148840" cy="18288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52944" y="2240280"/>
            <a:ext cx="64008" cy="1828800"/>
          </a:xfrm>
          <a:prstGeom prst="rect">
            <a:avLst/>
          </a:prstGeom>
          <a:solidFill>
            <a:srgbClr val="72E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2386584"/>
            <a:ext cx="181965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4.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2807208"/>
            <a:ext cx="1801368" cy="11521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Calculate costs and check constraints.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784" y="2880360"/>
            <a:ext cx="228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CCDBE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02952" y="2240280"/>
            <a:ext cx="2148840" cy="18288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02952" y="2240280"/>
            <a:ext cx="64008" cy="182880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2386584"/>
            <a:ext cx="181965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5.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2807208"/>
            <a:ext cx="1801368" cy="11521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A classical optimizer adjusts parameters.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92040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4C3D7"/>
                </a:solidFill>
                <a:latin typeface="Aptos"/>
              </a:rPr>
              <a:t>The depth parameter p controls the number of alternating cost/mixer layers. A deeper circuit can be harder to optimize and more sensitive to hardware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BEGINNER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Level 1 — Beginner QAOA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A small instance makes exact verification possible.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21488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14884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14553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Problem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127248" cy="1472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6 stocks; choose exactly 3.
Possible portfolios: C(6,3) = 20.
Logical qubits: 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74720" cy="21488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214884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14553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Classical optimum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127248" cy="1472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Stock 2, Stock 3, Stock 6
Cost = −0.503015
Found by checking all 20 portfolios.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21488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14884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14553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QAOA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127248" cy="1472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p = 1; two trainable angles.
Cost Hamiltonian: 22 Pauli terms.
Simulation: 4,096 shots.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156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Teaching point: because the search space has only 20 candidates, the classical answer is easy to verify exactly. QAOA is an experiment, not a necessary speedup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BEGINNER •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Beginner — IBM Quantum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A real-device execution of the six-qubit portfolio circuit.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21488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14884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081528" cy="1472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Backend: ibm_kingston
Shots: 1,024
Job ID: db7mlh0r1c5c738kspdg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21488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214884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Observed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081528" cy="1472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Valid portfolios: 609 / 1,024
Valid rate: 59.47%
Exact optimum: 29 hits (2.83%).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1488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14884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Best valid 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081528" cy="1472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Stock 2, Stock 3, Stock 6
Cost: −0.503015
Matches the classical optimum.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4C3D7"/>
                </a:solidFill>
                <a:latin typeface="Aptos"/>
              </a:rPr>
              <a:t>The best observed portfolio matched the exact optimum, but the optimum appeared in only 2.83% of shots. A match in some samples does not mean the circuit reliably returns the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INTERMEDIATE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Level 2 — Quantum-kernel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Instead of directly optimizing every bitstring, we learn a similarity-based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22860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28600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Candidate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081528" cy="1609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12 stocks; choose 6.
C(12,6) = 924 portfolios.
Classical optimum: Stocks 2, 6, 7, 9, 11, 12.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22860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228600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Quantum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081528" cy="1609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12-qubit feature map; 2 repetitions.
Statevector dimension: 2¹² = 4,096.
Fidelity: K(x,y) = |⟨φ(x)|φ(y)⟩|².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28600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28600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Model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081528" cy="16093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Quantum fidelity-kernel SVM vs classical RBF-SVM.
Initial split: both recorded 100% accuracy.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7676"/>
                </a:solidFill>
                <a:latin typeface="Aptos"/>
              </a:rPr>
              <a:t>Interpretation: the initial split is not proof of quantum superiority. Labels use selected good/poor extremes from synthetic data; classification accuracy and portfolio ranking are different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INTERMEDIATE •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Intermediate — hardware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The hardware run tested a small circuit, not the full QML training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19456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Circuit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2-qubit feature-map-style circuit
Backend: ibm_kingston
Shots: 512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219456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Job &amp; 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Job ID: db7n3e0r1c5c738ktlbg
00: 47   •   01: 164
10: 76   •   11: 225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19456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What it proves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A circuit was executed on real hardware and produced measurement 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Scope boundary: the complete 12-qubit fidelity-kernel SVM was evaluated through the notebook’s feature-map/kernel workflow; the hardware run was a separate small demonstration circuit.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Level 3 — Advanced constrained QAOA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A larger instance with two explicit portfolio constraints.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21488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14884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081528" cy="1472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20 stocks; choose 10.
5 sectors, 4 stocks each.
At most 2 selected per sector.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21488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214884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081528" cy="1472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C(x) = q xᵀΣx − μᵀx
q = 0.5
Penalties: λcard = λsector = 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1488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14884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Hamiltonian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081528" cy="1472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20 logical qubits
211 Pauli terms
101 bitstring checks; max error ≈ 5.116×10⁻¹³.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4C3D7"/>
                </a:solidFill>
                <a:latin typeface="Aptos"/>
              </a:rPr>
              <a:t>Feasible combinations: choose 2 of 4 in each of 5 sectors, so C(4,2)⁵ = 7,776. The exhaustive classical search gives an exact reference for this synthetic instance.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ADVANCED •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Advanced — classical baseline &amp;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The exact reference is known; QAOA samples are judged against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19456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Exact classical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Stocks 2, 4, 5, 7, 11, 12, 13, 16, 18, 20
Cost: −1.111739
Return score: 1.736840; risk: 1.250202.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219456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4,096 shots
Valid: 422 (10.30%)
Exact optimum sampled once.
Best valid cost: −1.111739.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19456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Optimization caveat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4C3D7"/>
                </a:solidFill>
                <a:latin typeface="Aptos"/>
              </a:rPr>
              <a:t>Pilot search hit the 20-evaluation limit.
Parameters were not shown to converge.
p =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156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The simulator sampled the exact optimum once, but only 10.30% of measurements were feasible. This is a useful proof-of-work result, not evidence of a reliable speedup.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ADVANCED •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Advanced — what happened on IBM hardware?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Step-by-step: from a parameterized circuit to measured bitstrings.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12344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123444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1. Bind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081528" cy="5577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4C3D7"/>
                </a:solidFill>
                <a:latin typeface="Aptos"/>
              </a:rPr>
              <a:t>Set pilot γ and β values in the 20-qubit QAOA circuit.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429000" cy="12344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64008" cy="123444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2.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395728"/>
            <a:ext cx="3081528" cy="5577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4C3D7"/>
                </a:solidFill>
                <a:latin typeface="Aptos"/>
              </a:rPr>
              <a:t>Add measurement operations to the circuit.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3429000" cy="12344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64008" cy="123444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3. Transpile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95728"/>
            <a:ext cx="3081528" cy="5577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4C3D7"/>
                </a:solidFill>
                <a:latin typeface="Aptos"/>
              </a:rPr>
              <a:t>Map logical operations to backend-supported gates and connectivity.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83280"/>
            <a:ext cx="3429000" cy="12344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383280"/>
            <a:ext cx="64008" cy="1234440"/>
          </a:xfrm>
          <a:prstGeom prst="rect">
            <a:avLst/>
          </a:prstGeom>
          <a:solidFill>
            <a:srgbClr val="72E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2958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4.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950208"/>
            <a:ext cx="3081528" cy="5577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4C3D7"/>
                </a:solidFill>
                <a:latin typeface="Aptos"/>
              </a:rPr>
              <a:t>Use IBM Quantum Runtime Sampler for 256 shots.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383280"/>
            <a:ext cx="3429000" cy="12344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383280"/>
            <a:ext cx="64008" cy="123444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7" y="352958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5. Decode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3950208"/>
            <a:ext cx="3081528" cy="5577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4C3D7"/>
                </a:solidFill>
                <a:latin typeface="Aptos"/>
              </a:rPr>
              <a:t>Reverse bitstring order as required by the notebook, then test constraints.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383280"/>
            <a:ext cx="3429000" cy="12344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383280"/>
            <a:ext cx="64008" cy="123444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352958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6.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3950208"/>
            <a:ext cx="3081528" cy="5577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4C3D7"/>
                </a:solidFill>
                <a:latin typeface="Aptos"/>
              </a:rPr>
              <a:t>Calculate the unpenalized objective for valid portfolios.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12080"/>
            <a:ext cx="106070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457"/>
                </a:solidFill>
                <a:latin typeface="Aptos"/>
              </a:rPr>
              <a:t>Hardware job ID: db7n9iuil99s73fogb5g  •  Backend: ibm_kingston  •  Shots: 256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ADVANCED •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Advanced — real hardware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The hardware run illustrates how difficult constrained sampling can be on a deep circuit.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19456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Compiled circuit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156 physical-qubit positions
Depth: 680
CZ gates: 938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2194560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Observed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Valid: 1 / 256 = 0.39%
Unique valid portfolios: 1
Exact optimum hits: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19456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19456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09981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Best valid 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081528" cy="15179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Stocks 1, 4, 7, 8, 10, 11, 13, 14, 17, 19
Cost: −0.794773
Gap to optimum: 0.316966.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4C3D7"/>
                </a:solidFill>
                <a:latin typeface="Aptos"/>
              </a:rPr>
              <a:t>Plausible contributors include circuit depth, gate/readout noise, only 256 shots, strict constraints, and unoptimized pilot parameters. This experiment does not isolate the cause of the low valid rate.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RESULTS &amp;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What do the results tell 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Read the evidence carefully; do not overstate what it means.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240280" cy="438912"/>
          </a:xfrm>
          <a:prstGeom prst="roundRect">
            <a:avLst/>
          </a:prstGeom>
          <a:solidFill>
            <a:srgbClr val="234668"/>
          </a:solidFill>
          <a:ln>
            <a:solidFill>
              <a:srgbClr val="375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2093976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CCDBE"/>
                </a:solidFill>
                <a:latin typeface="Aptos"/>
              </a:rPr>
              <a:t>Experiment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828800"/>
            <a:ext cx="1097280" cy="438912"/>
          </a:xfrm>
          <a:prstGeom prst="roundRect">
            <a:avLst/>
          </a:prstGeom>
          <a:solidFill>
            <a:srgbClr val="234668"/>
          </a:solidFill>
          <a:ln>
            <a:solidFill>
              <a:srgbClr val="375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901952"/>
            <a:ext cx="950976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CCDBE"/>
                </a:solidFill>
                <a:latin typeface="Aptos"/>
              </a:rPr>
              <a:t>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9664" y="1828800"/>
            <a:ext cx="1828800" cy="438912"/>
          </a:xfrm>
          <a:prstGeom prst="roundRect">
            <a:avLst/>
          </a:prstGeom>
          <a:solidFill>
            <a:srgbClr val="234668"/>
          </a:solidFill>
          <a:ln>
            <a:solidFill>
              <a:srgbClr val="375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1901952"/>
            <a:ext cx="1682496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CCDBE"/>
                </a:solidFill>
                <a:latin typeface="Aptos"/>
              </a:rPr>
              <a:t>Valid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1828800"/>
            <a:ext cx="5394960" cy="438912"/>
          </a:xfrm>
          <a:prstGeom prst="roundRect">
            <a:avLst/>
          </a:prstGeom>
          <a:solidFill>
            <a:srgbClr val="234668"/>
          </a:solidFill>
          <a:ln>
            <a:solidFill>
              <a:srgbClr val="375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901952"/>
            <a:ext cx="5248656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CCDBE"/>
                </a:solidFill>
                <a:latin typeface="Aptos"/>
              </a:rPr>
              <a:t>Interpretation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395728"/>
            <a:ext cx="224028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468880"/>
            <a:ext cx="211226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Beginner hardware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2395728"/>
            <a:ext cx="109728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2468880"/>
            <a:ext cx="96926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1,024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9664" y="2395728"/>
            <a:ext cx="182880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2" y="2468880"/>
            <a:ext cx="170078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59.47%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71616" y="2395728"/>
            <a:ext cx="539496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5624" y="2468880"/>
            <a:ext cx="526694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Optimum hit 29 times; best valid cost matched classical.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17520"/>
            <a:ext cx="224028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90672"/>
            <a:ext cx="211226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Intermediate hardware demo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9232" y="3017520"/>
            <a:ext cx="109728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090672"/>
            <a:ext cx="96926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512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9664" y="3017520"/>
            <a:ext cx="182880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3672" y="3090672"/>
            <a:ext cx="170078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Not a portfolio metric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71616" y="3017520"/>
            <a:ext cx="539496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5624" y="3090672"/>
            <a:ext cx="526694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Two-qubit circuit only; not full QML-on-hardware.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639312"/>
            <a:ext cx="224028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712464"/>
            <a:ext cx="211226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Advanced simulator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99232" y="3639312"/>
            <a:ext cx="109728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712464"/>
            <a:ext cx="96926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4,096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9664" y="3639312"/>
            <a:ext cx="182880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3672" y="3712464"/>
            <a:ext cx="170078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10.30%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71616" y="3639312"/>
            <a:ext cx="539496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3712464"/>
            <a:ext cx="526694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Exact optimum sampled once.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261104"/>
            <a:ext cx="224028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4334256"/>
            <a:ext cx="211226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Advanced hardware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99232" y="4261104"/>
            <a:ext cx="109728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63240" y="4334256"/>
            <a:ext cx="96926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256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69664" y="4261104"/>
            <a:ext cx="182880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33672" y="4334256"/>
            <a:ext cx="170078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0.39%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71616" y="4261104"/>
            <a:ext cx="5394960" cy="512064"/>
          </a:xfrm>
          <a:prstGeom prst="roundRect">
            <a:avLst/>
          </a:prstGeom>
          <a:solidFill>
            <a:srgbClr val="192E52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4334256"/>
            <a:ext cx="526694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One valid portfolio; optimum not observed.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349240"/>
            <a:ext cx="106070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457"/>
                </a:solidFill>
                <a:latin typeface="Aptos"/>
              </a:rPr>
              <a:t>Different problem sizes, circuits, and shot counts mean these experiments are not a controlled head-to-head benchmark.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Limitations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A credible quantum project reports constraints as clearly as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Synthetic inputs make the experiments reproducible, but not representative of real market behavior.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Small search spaces allow exact classical solutions; no quantum advantage is established.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QAOA parameter optimization was a limited pilot in the advanced experiment.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Deep hardware circuits and finite shots can reduce the chance of observing feasible bitstrings.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Intermediate hardware execution tested a small feature-map-style circuit—not the complete QML model.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Future work: better parameter searches, constraint-aware mixers, repeated trials, and fair classical comparisons.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CCDBE"/>
                </a:solidFill>
                <a:latin typeface="Aptos"/>
              </a:rPr>
              <a:t>Takeaway: measure first, compare fairly, and make claims only as strong as the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Three levels, one consistent experimental discipline.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1920240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30540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Beginner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035808" cy="12435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Learned QAOA and verified a 6-stock optimum against exhaustive 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28800"/>
            <a:ext cx="3383280" cy="19202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828800"/>
            <a:ext cx="64008" cy="1920240"/>
          </a:xfrm>
          <a:prstGeom prst="rect">
            <a:avLst/>
          </a:prstGeom>
          <a:solidFill>
            <a:srgbClr val="67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975104"/>
            <a:ext cx="30540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Intermediate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395728"/>
            <a:ext cx="3035808" cy="12435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Compared quantum-kernel and classical SVMs; separated QML evaluation from hardware demo.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828800"/>
            <a:ext cx="3383280" cy="1920240"/>
          </a:xfrm>
          <a:prstGeom prst="roundRect">
            <a:avLst/>
          </a:prstGeom>
          <a:solidFill>
            <a:srgbClr val="192E52"/>
          </a:solidFill>
          <a:ln>
            <a:solidFill>
              <a:srgbClr val="34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1828800"/>
            <a:ext cx="64008" cy="192024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975104"/>
            <a:ext cx="30540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95728"/>
            <a:ext cx="3035808" cy="12435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4C3D7"/>
                </a:solidFill>
                <a:latin typeface="Aptos"/>
              </a:rPr>
              <a:t>Built and validated a constrained 20-qubit cost Hamiltonian and tested a deep hardware circuit.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024128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Our conclusion: Qiskit and IBM Quantum hardware make it possible to study quantum algorithms end to end, while classical baselines and honest limitations remain essential.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2412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2CCDBE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206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CDBE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References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43000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4C3D7"/>
                </a:solidFill>
                <a:latin typeface="Aptos"/>
              </a:rPr>
              <a:t>Selected official documentation and experiment identifiers.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43000" cy="41148"/>
          </a:xfrm>
          <a:prstGeom prst="rect">
            <a:avLst/>
          </a:prstGeom>
          <a:solidFill>
            <a:srgbClr val="2C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B4C3D7"/>
                </a:solidFill>
                <a:latin typeface="Aptos"/>
              </a:rPr>
              <a:t>SUPERPOSITION SQUAD  •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CCDBE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881360" cy="4023360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Qiskit Fall Fest 2026 — Quantica event page: https://qiskit-fall-fest-xi.vercel.app/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IBM Quantum — QAOA tutorial: https://qiskit.qotlabs.org/docs/tutorials/quantum-approximate-optimization-algorithm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IBM Quantum Learning — QAOA: https://learning.quantum.ibm.com/tutorial/quantum-approximate-optimization-algorithm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IBM Quantum Runtime — Sampler API: https://quantum.cloud.ibm.com/docs/en/api/qiskit-ibm-runtime/executor-sampler-sampler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IBM Quantum Runtime — Runtime service: https://docs.quantum.ibm.com/api/qiskit-ibm-runtime/runtime-service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Beginner portfolio job: db7mlh0r1c5c738kspdg (1,024 shots)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Intermediate hardware demo: db7n3e0r1c5c738ktlbg (512 shots)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Advanced portfolio job: db7n9iuil99s73fogb5g (256 shots)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B4C3D7"/>
                </a:solidFill>
                <a:latin typeface="Aptos"/>
              </a:rPr>
              <a:t>The job IDs identify recorded executions; access to detailed job data depends on IBM Quantum account permissions.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