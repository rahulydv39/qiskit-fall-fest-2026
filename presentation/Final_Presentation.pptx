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explore a practical question: how can we encode a portfolio-selection problem into quantum circuits, and what happens when we test the ideas on both a simulator and real hardware? We organized the work into three levels: a beginner QAOA problem, an intermediate quantum-kernel machine-learning experiment, and a larger constrained QAOA instance. Our goal is not to claim quantum advantage; it is to explain the workflow, validate it against classical baselines, and report what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notebooks as one coherent learning journey. Beginner is the easiest validation because there are only 20 possible portfolios, so we can enumerate all of them. Intermediate changes the question: instead of using QAOA to generate solutions, it encodes portfolio candidates into quantum states and uses state fidelity as a similarity measure for a kernel-based classifier. Advanced revisits QAOA with 20 decision qubits and sector constraints. The candidate sets and tasks differ, so we should not read the metrics as a direct head-to-head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common mathematical structure. A portfolio is represented by x, a vector of zeros and ones. Risk is modeled using the covariance matrix, while the negative return term rewards larger expected return. The scalar q controls the risk-return balance. In the advanced version, penalty terms encourage selecting exactly ten stocks and no more than two from each sector. Once encoded as a Hamiltonian, QAOA prepares a state and evolves it using parameterized gates. Measurements give bitstrings, but the post-processing is classical: decode, validate feasibility, and compute the original objective. This classical validation matters because a bitstring can be measured even if it violates portfolio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is our cleanest validation story. There are six candidate stocks and exactly three must be chosen, so only 20 portfolios exist. Exhaustive search identifies Stock 2, Stock 3, and Stock 6 with cost minus 0.503015. The QAOA circuit uses six logical qubits and p equals one. The simulator produced 2,783 valid selections in 4,096 shots, a 67.94 percent valid rate. The IBM hardware job had 609 valid samples out of 1,024, or 59.47 percent. The exact optimum appeared in 29 hardware samples, 2.83 percent, and the best valid hardware sample matched the reference solution. This shows hardware can sample a good answer, but does not imply every shot is valid or that this beats classical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Intermediate notebook, we do not use QAOA. We take 12-stock candidate portfolios with six selected stocks each, giving 924 combinations. Each portfolio is encoded by a quantum feature map. The fidelity kernel measures similarity using the squared overlap between two encoded quantum states. An SVM then classifies the labeled examples. Both the quantum-kernel SVM and classical RBF SVM scored 100 percent on the initial evaluated split, but labels came from the extreme ends of a synthetic objective distribution and intermediate examples were excluded. In five ranking evaluations, the quantum mean rank of the exact optimum was 1.4 and Spearman correlation averaged about 0.9469. The classical method ranked the optimum first in all five and its average Spearman correlation was slightly higher, about 0.9563. So we do not claim that the quantum method outperformed the classical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Advanced instance has 20 stocks across five sectors of four stocks each. We choose ten stocks and cap each sector at two selections. Because ten slots must be filled across five sectors, no sector can have fewer than two in a feasible solution; therefore exactly two per sector. This permits 6 choices from each sector, or 6 to the fifth power, giving 7,776 feasible portfolios. Classical exhaustive search finds the reference portfolio listed on the slide, with unpenalized cost minus 1.111739. The QAOA Hamiltonian has 20 logical qubits and 211 Pauli terms. In 4,096 simulator shots, 422 were feasible, 10.30 percent, and the exact optimum appeared once. That best sampled valid portfolio matches the classical optimum. However, the parameter pilot stopped at its 20-evaluation cap, so it was not demonstrated to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hardware-awareness slide. Beginner QAOA has 609 valid shots out of 1,024. The exact optimum appeared 29 times, and the best valid sample matched classical exhaustive search. In the Intermediate notebook, hardware was used for a separate two-qubit feature-map-style circuit, not for the whole quantum-kernel SVM pipeline. Advanced hardware is the sobering result: only one of 256 outcomes passed the strict ten-stock and sector checks. The exact optimum was never sampled, and the best valid cost was minus 0.794773, versus minus 1.111739 for the classical optimum. The compiled circuit had depth 680 and 938 CZ gates. These observations are consistent with the challenges of deep noisy circuits, strict constraints, limited sampling, and pilot parameters, but the experiment does not isolate the cause of the lower valid rate. The three experiments differ in circuit and problem, so do not present them as a controlled scaling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First, for small instances, an exact classical reference is invaluable and provides a test for the quantum samples. Second, in constrained optimization the valid-sample rate is a major part of performance; a low-cost invalid string is not a usable portfolio. Third, hardware data need context: compiler routing creates deeper circuits, measurement is finite, and optimization budgets matter. Our contribution is the implementation and evaluation across progressively harder cases, including real IBM hardware. We did not prove quantum speedup, quantum advantage, or that quantum machine learning outperforms the classical model. The data are synthetic and the classical tasks are small enough for exhaustive enumeration. Invite the audience to open the notebooks and references for full implementation details, saved outputs, and hardware job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502920" y="6519672"/>
            <a:ext cx="11183112" cy="0"/>
          </a:xfrm>
          <a:prstGeom prst="line">
            <a:avLst/>
          </a:prstGeom>
          <a:noFill/>
          <a:ln w="10160">
            <a:solidFill>
              <a:srgbClr val="DEE5F0"/>
            </a:solidFill>
            <a:prstDash val="solid"/>
          </a:ln>
        </p:spPr>
      </p:sp>
      <p:sp>
        <p:nvSpPr>
          <p:cNvPr id="3" name="Text 1"/>
          <p:cNvSpPr/>
          <p:nvPr/>
        </p:nvSpPr>
        <p:spPr>
          <a:xfrm>
            <a:off x="530352" y="6574536"/>
            <a:ext cx="7589520" cy="137160"/>
          </a:xfrm>
          <a:prstGeom prst="rect">
            <a:avLst/>
          </a:prstGeom>
          <a:noFill/>
          <a:ln/>
        </p:spPr>
        <p:txBody>
          <a:bodyPr wrap="square" lIns="0" tIns="0" rIns="0" bIns="0" rtlCol="0" anchor="ctr"/>
          <a:lstStyle/>
          <a:p>
            <a:pPr indent="0" marL="0">
              <a:buNone/>
            </a:pPr>
            <a:r>
              <a:rPr lang="en-US" sz="750" spc="40" kern="0" dirty="0">
                <a:solidFill>
                  <a:srgbClr val="63718A"/>
                </a:solidFill>
                <a:latin typeface="Inter" pitchFamily="34" charset="0"/>
                <a:ea typeface="Inter" pitchFamily="34" charset="-122"/>
                <a:cs typeface="Inter" pitchFamily="34" charset="-120"/>
              </a:rPr>
              <a:t>QISKIT FALL FEST 2026  •  TRACK 2: QUANTUM OPTIMIZATION</a:t>
            </a:r>
            <a:endParaRPr lang="en-US" sz="750" dirty="0"/>
          </a:p>
        </p:txBody>
      </p:sp>
      <p:sp>
        <p:nvSpPr>
          <p:cNvPr id="4" name="Text 2"/>
          <p:cNvSpPr/>
          <p:nvPr/>
        </p:nvSpPr>
        <p:spPr>
          <a:xfrm>
            <a:off x="7315200" y="6574536"/>
            <a:ext cx="4343400" cy="137160"/>
          </a:xfrm>
          <a:prstGeom prst="rect">
            <a:avLst/>
          </a:prstGeom>
          <a:noFill/>
          <a:ln/>
        </p:spPr>
        <p:txBody>
          <a:bodyPr wrap="square" lIns="0" tIns="0" rIns="0" bIns="0" rtlCol="0" anchor="ctr"/>
          <a:lstStyle/>
          <a:p>
            <a:pPr algn="r" indent="0" marL="0">
              <a:buNone/>
            </a:pPr>
            <a:r>
              <a:rPr lang="en-US" sz="750" spc="15" kern="0" dirty="0">
                <a:solidFill>
                  <a:srgbClr val="63718A"/>
                </a:solidFill>
                <a:latin typeface="Inter" pitchFamily="34" charset="0"/>
                <a:ea typeface="Inter" pitchFamily="34" charset="-122"/>
                <a:cs typeface="Inter" pitchFamily="34" charset="-120"/>
              </a:rPr>
              <a:t>RAHUL KUMAR  ·  ALDEN ANTONY  ·  KRISHNA AGGARWAL</a:t>
            </a:r>
            <a:endParaRPr lang="en-US" sz="75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172A"/>
          </a:solidFill>
          <a:ln w="12700">
            <a:solidFill>
              <a:srgbClr val="10172A"/>
            </a:solidFill>
            <a:prstDash val="solid"/>
          </a:ln>
        </p:spPr>
        <p:txBody>
          <a:bodyPr/>
          <a:p/>
        </p:txBody>
      </p:sp>
      <p:sp>
        <p:nvSpPr>
          <p:cNvPr id="3" name="Shape 1"/>
          <p:cNvSpPr/>
          <p:nvPr/>
        </p:nvSpPr>
        <p:spPr>
          <a:xfrm>
            <a:off x="566928" y="658368"/>
            <a:ext cx="73152" cy="4251960"/>
          </a:xfrm>
          <a:prstGeom prst="rect">
            <a:avLst/>
          </a:prstGeom>
          <a:solidFill>
            <a:srgbClr val="14A8B5"/>
          </a:solidFill>
          <a:ln w="12700">
            <a:solidFill>
              <a:srgbClr val="14A8B5"/>
            </a:solidFill>
            <a:prstDash val="solid"/>
          </a:ln>
        </p:spPr>
        <p:txBody>
          <a:bodyPr/>
          <a:p/>
        </p:txBody>
      </p:sp>
      <p:sp>
        <p:nvSpPr>
          <p:cNvPr id="4" name="Shape 2"/>
          <p:cNvSpPr/>
          <p:nvPr/>
        </p:nvSpPr>
        <p:spPr>
          <a:xfrm>
            <a:off x="841248" y="676656"/>
            <a:ext cx="2103120" cy="274320"/>
          </a:xfrm>
          <a:prstGeom prst="roundRect">
            <a:avLst>
              <a:gd name="adj" fmla="val 50000"/>
            </a:avLst>
          </a:prstGeom>
          <a:solidFill>
            <a:srgbClr val="19243E"/>
          </a:solidFill>
          <a:ln w="12700">
            <a:solidFill>
              <a:srgbClr val="19243E">
                <a:alpha val="0"/>
              </a:srgbClr>
            </a:solidFill>
            <a:prstDash val="solid"/>
          </a:ln>
        </p:spPr>
        <p:txBody>
          <a:bodyPr/>
          <a:p/>
        </p:txBody>
      </p:sp>
      <p:sp>
        <p:nvSpPr>
          <p:cNvPr id="5" name="Text 3"/>
          <p:cNvSpPr txBox="1"/>
          <p:nvPr/>
        </p:nvSpPr>
        <p:spPr>
          <a:xfrm>
            <a:off x="896112" y="685800"/>
            <a:ext cx="19933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BFCBFF"/>
                </a:solidFill>
                <a:latin typeface="Inter" pitchFamily="34" charset="0"/>
                <a:ea typeface="Inter" pitchFamily="34" charset="-122"/>
                <a:cs typeface="Inter" pitchFamily="34" charset="-120"/>
              </a:rPr>
              <a:t>QISKIT FALL FEST 2026</a:t>
            </a:r>
            <a:endParaRPr lang="en-US" sz="850" dirty="0"/>
          </a:p>
        </p:txBody>
      </p:sp>
      <p:sp>
        <p:nvSpPr>
          <p:cNvPr id="6" name="Text 4"/>
          <p:cNvSpPr txBox="1"/>
          <p:nvPr/>
        </p:nvSpPr>
        <p:spPr>
          <a:xfrm>
            <a:off x="822960" y="1234440"/>
            <a:ext cx="6903720" cy="1417320"/>
          </a:xfrm>
          <a:prstGeom prst="rect">
            <a:avLst/>
          </a:prstGeom>
          <a:noFill/>
          <a:ln/>
        </p:spPr>
        <p:txBody>
          <a:bodyPr wrap="square" lIns="0" tIns="0" rIns="0" bIns="0" rtlCol="0" anchor="ctr">
            <a:normAutofit/>
          </a:bodyPr>
          <a:lstStyle/>
          <a:p>
            <a:pPr algn="l" indent="0" marL="0">
              <a:lnSpc>
                <a:spcPct val="100000"/>
              </a:lnSpc>
              <a:buNone/>
            </a:pPr>
            <a:r>
              <a:rPr lang="en-US" sz="3100" b="1" spc="20" kern="0" dirty="0">
                <a:solidFill>
                  <a:srgbClr val="FFFFFF"/>
                </a:solidFill>
                <a:latin typeface="Inter" pitchFamily="34" charset="0"/>
                <a:ea typeface="Inter" pitchFamily="34" charset="-122"/>
                <a:cs typeface="Inter" pitchFamily="34" charset="-120"/>
              </a:rPr>
              <a:t>FROM QUBITS TO</a:t>
            </a:r>
            <a:endParaRPr lang="en-US" sz="3100" dirty="0"/>
          </a:p>
          <a:p>
            <a:pPr algn="l" indent="0" marL="0">
              <a:lnSpc>
                <a:spcPct val="100000"/>
              </a:lnSpc>
              <a:buNone/>
            </a:pPr>
            <a:r>
              <a:rPr lang="en-US" sz="3100" b="1" spc="20" kern="0" dirty="0">
                <a:solidFill>
                  <a:srgbClr val="FFFFFF"/>
                </a:solidFill>
                <a:latin typeface="Inter" pitchFamily="34" charset="0"/>
                <a:ea typeface="Inter" pitchFamily="34" charset="-122"/>
                <a:cs typeface="Inter" pitchFamily="34" charset="-120"/>
              </a:rPr>
              <a:t>PORTFOLIO DECISIONS</a:t>
            </a:r>
            <a:endParaRPr lang="en-US" sz="3100" dirty="0"/>
          </a:p>
        </p:txBody>
      </p:sp>
      <p:sp>
        <p:nvSpPr>
          <p:cNvPr id="7" name="Text 5"/>
          <p:cNvSpPr txBox="1"/>
          <p:nvPr/>
        </p:nvSpPr>
        <p:spPr>
          <a:xfrm>
            <a:off x="859536" y="2852928"/>
            <a:ext cx="6355080" cy="566928"/>
          </a:xfrm>
          <a:prstGeom prst="rect">
            <a:avLst/>
          </a:prstGeom>
          <a:noFill/>
          <a:ln/>
        </p:spPr>
        <p:txBody>
          <a:bodyPr wrap="square" lIns="0" tIns="0" rIns="0" bIns="0" rtlCol="0" anchor="t">
            <a:normAutofit/>
          </a:bodyPr>
          <a:lstStyle/>
          <a:p>
            <a:pPr algn="l" indent="0" marL="0">
              <a:lnSpc>
                <a:spcPct val="100000"/>
              </a:lnSpc>
              <a:buNone/>
            </a:pPr>
            <a:r>
              <a:rPr lang="en-US" sz="1700" dirty="0">
                <a:solidFill>
                  <a:srgbClr val="C9D4EA"/>
                </a:solidFill>
                <a:latin typeface="Inter" pitchFamily="34" charset="0"/>
                <a:ea typeface="Inter" pitchFamily="34" charset="-122"/>
                <a:cs typeface="Inter" pitchFamily="34" charset="-120"/>
              </a:rPr>
              <a:t>A three-level study of QAOA and quantum-kernel machine learning</a:t>
            </a:r>
            <a:endParaRPr lang="en-US" sz="1700" dirty="0"/>
          </a:p>
        </p:txBody>
      </p:sp>
      <p:sp>
        <p:nvSpPr>
          <p:cNvPr id="8" name="Shape 6"/>
          <p:cNvSpPr/>
          <p:nvPr/>
        </p:nvSpPr>
        <p:spPr>
          <a:xfrm>
            <a:off x="859536" y="3694176"/>
            <a:ext cx="2971800" cy="274320"/>
          </a:xfrm>
          <a:prstGeom prst="roundRect">
            <a:avLst>
              <a:gd name="adj" fmla="val 50000"/>
            </a:avLst>
          </a:prstGeom>
          <a:solidFill>
            <a:srgbClr val="263155"/>
          </a:solidFill>
          <a:ln w="12700">
            <a:solidFill>
              <a:srgbClr val="263155">
                <a:alpha val="0"/>
              </a:srgbClr>
            </a:solidFill>
            <a:prstDash val="solid"/>
          </a:ln>
        </p:spPr>
        <p:txBody>
          <a:bodyPr/>
          <a:p/>
        </p:txBody>
      </p:sp>
      <p:sp>
        <p:nvSpPr>
          <p:cNvPr id="9" name="Text 7"/>
          <p:cNvSpPr txBox="1"/>
          <p:nvPr/>
        </p:nvSpPr>
        <p:spPr>
          <a:xfrm>
            <a:off x="914400" y="3703320"/>
            <a:ext cx="286207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DCD6FF"/>
                </a:solidFill>
                <a:latin typeface="Inter" pitchFamily="34" charset="0"/>
                <a:ea typeface="Inter" pitchFamily="34" charset="-122"/>
                <a:cs typeface="Inter" pitchFamily="34" charset="-120"/>
              </a:rPr>
              <a:t>TRACK 2  ·  QUANTUM OPTIMIZATION</a:t>
            </a:r>
            <a:endParaRPr lang="en-US" sz="850" dirty="0"/>
          </a:p>
        </p:txBody>
      </p:sp>
      <p:sp>
        <p:nvSpPr>
          <p:cNvPr id="10" name="Text 8"/>
          <p:cNvSpPr txBox="1"/>
          <p:nvPr/>
        </p:nvSpPr>
        <p:spPr>
          <a:xfrm>
            <a:off x="859536" y="4617720"/>
            <a:ext cx="731520" cy="201168"/>
          </a:xfrm>
          <a:prstGeom prst="rect">
            <a:avLst/>
          </a:prstGeom>
          <a:noFill/>
          <a:ln/>
        </p:spPr>
        <p:txBody>
          <a:bodyPr wrap="square" lIns="0" tIns="0" rIns="0" bIns="0" rtlCol="0" anchor="ctr">
            <a:normAutofit/>
          </a:bodyPr>
          <a:lstStyle/>
          <a:p>
            <a:pPr algn="l" indent="0" marL="0">
              <a:lnSpc>
                <a:spcPct val="100000"/>
              </a:lnSpc>
              <a:buNone/>
            </a:pPr>
            <a:r>
              <a:rPr lang="en-US" sz="900" b="1" spc="150" kern="0" dirty="0">
                <a:solidFill>
                  <a:srgbClr val="8FA2C7"/>
                </a:solidFill>
                <a:latin typeface="Inter" pitchFamily="34" charset="0"/>
                <a:ea typeface="Inter" pitchFamily="34" charset="-122"/>
                <a:cs typeface="Inter" pitchFamily="34" charset="-120"/>
              </a:rPr>
              <a:t>TEAM</a:t>
            </a:r>
            <a:endParaRPr lang="en-US" sz="900" dirty="0"/>
          </a:p>
        </p:txBody>
      </p:sp>
      <p:sp>
        <p:nvSpPr>
          <p:cNvPr id="11" name="Text 9"/>
          <p:cNvSpPr txBox="1"/>
          <p:nvPr/>
        </p:nvSpPr>
        <p:spPr>
          <a:xfrm>
            <a:off x="859536" y="4892040"/>
            <a:ext cx="6309360" cy="38404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Inter" pitchFamily="34" charset="0"/>
                <a:ea typeface="Inter" pitchFamily="34" charset="-122"/>
                <a:cs typeface="Inter" pitchFamily="34" charset="-120"/>
              </a:rPr>
              <a:t>Rahul Kumar  ·  Alden Antony  ·  Krishna Aggarwal</a:t>
            </a:r>
            <a:endParaRPr lang="en-US" sz="1400" dirty="0"/>
          </a:p>
        </p:txBody>
      </p:sp>
      <p:sp>
        <p:nvSpPr>
          <p:cNvPr id="12" name="Text 10"/>
          <p:cNvSpPr txBox="1"/>
          <p:nvPr/>
        </p:nvSpPr>
        <p:spPr>
          <a:xfrm>
            <a:off x="859536" y="5815584"/>
            <a:ext cx="4023360" cy="228600"/>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8FA2C7"/>
                </a:solidFill>
                <a:latin typeface="Inter" pitchFamily="34" charset="0"/>
                <a:ea typeface="Inter" pitchFamily="34" charset="-122"/>
                <a:cs typeface="Inter" pitchFamily="34" charset="-120"/>
              </a:rPr>
              <a:t>IIIT Delhi · 16 October 2026</a:t>
            </a:r>
            <a:endParaRPr lang="en-US" sz="1000" dirty="0"/>
          </a:p>
        </p:txBody>
      </p:sp>
      <p:sp>
        <p:nvSpPr>
          <p:cNvPr id="13" name="Shape 11"/>
          <p:cNvSpPr/>
          <p:nvPr/>
        </p:nvSpPr>
        <p:spPr>
          <a:xfrm>
            <a:off x="7635240" y="1005840"/>
            <a:ext cx="3657600" cy="3657600"/>
          </a:xfrm>
          <a:prstGeom prst="ellipse">
            <a:avLst/>
          </a:prstGeom>
          <a:solidFill>
            <a:srgbClr val="10172A">
              <a:alpha val="0"/>
            </a:srgbClr>
          </a:solidFill>
          <a:ln w="17780">
            <a:solidFill>
              <a:srgbClr val="374566"/>
            </a:solidFill>
            <a:prstDash val="solid"/>
          </a:ln>
        </p:spPr>
        <p:txBody>
          <a:bodyPr/>
          <a:p/>
        </p:txBody>
      </p:sp>
      <p:sp>
        <p:nvSpPr>
          <p:cNvPr id="14" name="Shape 12"/>
          <p:cNvSpPr/>
          <p:nvPr/>
        </p:nvSpPr>
        <p:spPr>
          <a:xfrm rot="3300000">
            <a:off x="8019288" y="1371600"/>
            <a:ext cx="2880360" cy="2926080"/>
          </a:xfrm>
          <a:prstGeom prst="ellipse">
            <a:avLst/>
          </a:prstGeom>
          <a:solidFill>
            <a:srgbClr val="10172A">
              <a:alpha val="0"/>
            </a:srgbClr>
          </a:solidFill>
          <a:ln w="19050">
            <a:solidFill>
              <a:srgbClr val="6D4AFF"/>
            </a:solidFill>
            <a:prstDash val="solid"/>
          </a:ln>
        </p:spPr>
        <p:txBody>
          <a:bodyPr/>
          <a:p/>
        </p:txBody>
      </p:sp>
      <p:sp>
        <p:nvSpPr>
          <p:cNvPr id="15" name="Shape 13"/>
          <p:cNvSpPr/>
          <p:nvPr/>
        </p:nvSpPr>
        <p:spPr>
          <a:xfrm rot="7200000">
            <a:off x="8019288" y="1371600"/>
            <a:ext cx="2880360" cy="2926080"/>
          </a:xfrm>
          <a:prstGeom prst="ellipse">
            <a:avLst/>
          </a:prstGeom>
          <a:solidFill>
            <a:srgbClr val="10172A">
              <a:alpha val="0"/>
            </a:srgbClr>
          </a:solidFill>
          <a:ln w="19050">
            <a:solidFill>
              <a:srgbClr val="14A8B5"/>
            </a:solidFill>
            <a:prstDash val="solid"/>
          </a:ln>
        </p:spPr>
        <p:txBody>
          <a:bodyPr/>
          <a:p/>
        </p:txBody>
      </p:sp>
      <p:sp>
        <p:nvSpPr>
          <p:cNvPr id="16" name="Shape 14"/>
          <p:cNvSpPr/>
          <p:nvPr/>
        </p:nvSpPr>
        <p:spPr>
          <a:xfrm>
            <a:off x="8622792" y="2011680"/>
            <a:ext cx="1691640" cy="1691640"/>
          </a:xfrm>
          <a:prstGeom prst="ellipse">
            <a:avLst/>
          </a:prstGeom>
          <a:solidFill>
            <a:srgbClr val="263155"/>
          </a:solidFill>
          <a:ln w="15240">
            <a:solidFill>
              <a:srgbClr val="55668C"/>
            </a:solidFill>
            <a:prstDash val="solid"/>
          </a:ln>
        </p:spPr>
        <p:txBody>
          <a:bodyPr/>
          <a:p/>
        </p:txBody>
      </p:sp>
      <p:sp>
        <p:nvSpPr>
          <p:cNvPr id="17" name="Text 15"/>
          <p:cNvSpPr txBox="1"/>
          <p:nvPr/>
        </p:nvSpPr>
        <p:spPr>
          <a:xfrm>
            <a:off x="8622792" y="2386584"/>
            <a:ext cx="1691640" cy="502920"/>
          </a:xfrm>
          <a:prstGeom prst="rect">
            <a:avLst/>
          </a:prstGeom>
          <a:noFill/>
          <a:ln/>
        </p:spPr>
        <p:txBody>
          <a:bodyPr wrap="square" lIns="0" tIns="0" rIns="0" bIns="0" rtlCol="0" anchor="ctr">
            <a:normAutofit/>
          </a:bodyPr>
          <a:lstStyle/>
          <a:p>
            <a:pPr algn="ctr" indent="0" marL="0">
              <a:lnSpc>
                <a:spcPct val="100000"/>
              </a:lnSpc>
              <a:buNone/>
            </a:pPr>
            <a:r>
              <a:rPr lang="en-US" sz="2700" b="1" dirty="0">
                <a:solidFill>
                  <a:srgbClr val="FFFFFF"/>
                </a:solidFill>
                <a:latin typeface="Inter" pitchFamily="34" charset="0"/>
                <a:ea typeface="Inter" pitchFamily="34" charset="-122"/>
                <a:cs typeface="Inter" pitchFamily="34" charset="-120"/>
              </a:rPr>
              <a:t>|ψ⟩</a:t>
            </a:r>
            <a:endParaRPr lang="en-US" sz="2700" dirty="0"/>
          </a:p>
        </p:txBody>
      </p:sp>
      <p:sp>
        <p:nvSpPr>
          <p:cNvPr id="18" name="Shape 16"/>
          <p:cNvSpPr/>
          <p:nvPr/>
        </p:nvSpPr>
        <p:spPr>
          <a:xfrm>
            <a:off x="7754112" y="1353312"/>
            <a:ext cx="210312" cy="210312"/>
          </a:xfrm>
          <a:prstGeom prst="ellipse">
            <a:avLst/>
          </a:prstGeom>
          <a:solidFill>
            <a:srgbClr val="14A8B5"/>
          </a:solidFill>
          <a:ln w="12700">
            <a:solidFill>
              <a:srgbClr val="14A8B5"/>
            </a:solidFill>
            <a:prstDash val="solid"/>
          </a:ln>
        </p:spPr>
        <p:txBody>
          <a:bodyPr/>
          <a:p/>
        </p:txBody>
      </p:sp>
      <p:sp>
        <p:nvSpPr>
          <p:cNvPr id="19" name="Shape 17"/>
          <p:cNvSpPr/>
          <p:nvPr/>
        </p:nvSpPr>
        <p:spPr>
          <a:xfrm>
            <a:off x="10789920" y="1847088"/>
            <a:ext cx="201168" cy="201168"/>
          </a:xfrm>
          <a:prstGeom prst="ellipse">
            <a:avLst/>
          </a:prstGeom>
          <a:solidFill>
            <a:srgbClr val="F4B942"/>
          </a:solidFill>
          <a:ln w="12700">
            <a:solidFill>
              <a:srgbClr val="F4B942"/>
            </a:solidFill>
            <a:prstDash val="solid"/>
          </a:ln>
        </p:spPr>
        <p:txBody>
          <a:bodyPr/>
          <a:p/>
        </p:txBody>
      </p:sp>
      <p:sp>
        <p:nvSpPr>
          <p:cNvPr id="20" name="Shape 18"/>
          <p:cNvSpPr/>
          <p:nvPr/>
        </p:nvSpPr>
        <p:spPr>
          <a:xfrm>
            <a:off x="9829800" y="4270248"/>
            <a:ext cx="201168" cy="201168"/>
          </a:xfrm>
          <a:prstGeom prst="ellipse">
            <a:avLst/>
          </a:prstGeom>
          <a:solidFill>
            <a:srgbClr val="20B892"/>
          </a:solidFill>
          <a:ln w="12700">
            <a:solidFill>
              <a:srgbClr val="20B892"/>
            </a:solidFill>
            <a:prstDash val="solid"/>
          </a:ln>
        </p:spPr>
        <p:txBody>
          <a:bodyPr/>
          <a:p/>
        </p:txBody>
      </p:sp>
      <p:sp>
        <p:nvSpPr>
          <p:cNvPr id="21" name="Shape 19"/>
          <p:cNvSpPr/>
          <p:nvPr/>
        </p:nvSpPr>
        <p:spPr>
          <a:xfrm>
            <a:off x="8229600" y="3794760"/>
            <a:ext cx="173736" cy="173736"/>
          </a:xfrm>
          <a:prstGeom prst="ellipse">
            <a:avLst/>
          </a:prstGeom>
          <a:solidFill>
            <a:srgbClr val="6D4AFF"/>
          </a:solidFill>
          <a:ln w="12700">
            <a:solidFill>
              <a:srgbClr val="6D4AFF"/>
            </a:solidFill>
            <a:prstDash val="solid"/>
          </a:ln>
        </p:spPr>
        <p:txBody>
          <a:bodyPr/>
          <a:p/>
        </p:txBody>
      </p:sp>
      <p:sp>
        <p:nvSpPr>
          <p:cNvPr id="22" name="Shape 20"/>
          <p:cNvSpPr/>
          <p:nvPr/>
        </p:nvSpPr>
        <p:spPr>
          <a:xfrm>
            <a:off x="10972800" y="3566160"/>
            <a:ext cx="155448" cy="155448"/>
          </a:xfrm>
          <a:prstGeom prst="ellipse">
            <a:avLst/>
          </a:prstGeom>
          <a:solidFill>
            <a:srgbClr val="E96E5B"/>
          </a:solidFill>
          <a:ln w="12700">
            <a:solidFill>
              <a:srgbClr val="E96E5B"/>
            </a:solidFill>
            <a:prstDash val="solid"/>
          </a:ln>
        </p:spPr>
        <p:txBody>
          <a:bodyPr/>
          <a:p/>
        </p:txBody>
      </p:sp>
      <p:sp>
        <p:nvSpPr>
          <p:cNvPr id="23" name="Text 21"/>
          <p:cNvSpPr txBox="1"/>
          <p:nvPr/>
        </p:nvSpPr>
        <p:spPr>
          <a:xfrm>
            <a:off x="7726680" y="5166360"/>
            <a:ext cx="3657600" cy="274320"/>
          </a:xfrm>
          <a:prstGeom prst="rect">
            <a:avLst/>
          </a:prstGeom>
          <a:noFill/>
          <a:ln/>
        </p:spPr>
        <p:txBody>
          <a:bodyPr wrap="square" lIns="0" tIns="0" rIns="0" bIns="0" rtlCol="0" anchor="ctr">
            <a:normAutofit/>
          </a:bodyPr>
          <a:lstStyle/>
          <a:p>
            <a:pPr algn="ctr" indent="0" marL="0">
              <a:lnSpc>
                <a:spcPct val="100000"/>
              </a:lnSpc>
              <a:buNone/>
            </a:pPr>
            <a:r>
              <a:rPr lang="en-US" sz="900" b="1" spc="90" kern="0" dirty="0">
                <a:solidFill>
                  <a:srgbClr val="BCC9E4"/>
                </a:solidFill>
                <a:latin typeface="Inter" pitchFamily="34" charset="0"/>
                <a:ea typeface="Inter" pitchFamily="34" charset="-122"/>
                <a:cs typeface="Inter" pitchFamily="34" charset="-120"/>
              </a:rPr>
              <a:t>MAP  →  OPTIMIZE  →  MEASURE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84048"/>
            <a:ext cx="141732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3075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PROJECT MAP</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One problem, three learning levels</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We increase the modeling complexity and change the quantum method to answer different questions.</a:t>
            </a:r>
            <a:endParaRPr lang="en-US" sz="1220" dirty="0"/>
          </a:p>
        </p:txBody>
      </p:sp>
      <p:sp>
        <p:nvSpPr>
          <p:cNvPr id="6" name="Shape 4"/>
          <p:cNvSpPr/>
          <p:nvPr/>
        </p:nvSpPr>
        <p:spPr>
          <a:xfrm>
            <a:off x="566928" y="1874520"/>
            <a:ext cx="3456432" cy="3602736"/>
          </a:xfrm>
          <a:prstGeom prst="roundRect">
            <a:avLst>
              <a:gd name="adj" fmla="val 3704"/>
            </a:avLst>
          </a:prstGeom>
          <a:solidFill>
            <a:srgbClr val="FFFFFF"/>
          </a:solidFill>
          <a:ln w="10160">
            <a:solidFill>
              <a:srgbClr val="DEE5F0"/>
            </a:solidFill>
            <a:prstDash val="solid"/>
          </a:ln>
        </p:spPr>
        <p:txBody>
          <a:bodyPr/>
          <a:p/>
        </p:txBody>
      </p:sp>
      <p:sp>
        <p:nvSpPr>
          <p:cNvPr id="7" name="Shape 5"/>
          <p:cNvSpPr/>
          <p:nvPr/>
        </p:nvSpPr>
        <p:spPr>
          <a:xfrm>
            <a:off x="566928" y="1874520"/>
            <a:ext cx="3456432" cy="73152"/>
          </a:xfrm>
          <a:prstGeom prst="rect">
            <a:avLst/>
          </a:prstGeom>
          <a:solidFill>
            <a:srgbClr val="14A8B5"/>
          </a:solidFill>
          <a:ln w="12700">
            <a:solidFill>
              <a:srgbClr val="14A8B5"/>
            </a:solidFill>
            <a:prstDash val="solid"/>
          </a:ln>
        </p:spPr>
        <p:txBody>
          <a:bodyPr/>
          <a:p/>
        </p:txBody>
      </p:sp>
      <p:sp>
        <p:nvSpPr>
          <p:cNvPr id="8" name="Text 6"/>
          <p:cNvSpPr txBox="1"/>
          <p:nvPr/>
        </p:nvSpPr>
        <p:spPr>
          <a:xfrm>
            <a:off x="768096" y="2075688"/>
            <a:ext cx="420624" cy="310896"/>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14A8B5"/>
                </a:solidFill>
                <a:latin typeface="Inter" pitchFamily="34" charset="0"/>
                <a:ea typeface="Inter" pitchFamily="34" charset="-122"/>
                <a:cs typeface="Inter" pitchFamily="34" charset="-120"/>
              </a:rPr>
              <a:t>01</a:t>
            </a:r>
            <a:endParaRPr lang="en-US" sz="2000" dirty="0"/>
          </a:p>
        </p:txBody>
      </p:sp>
      <p:sp>
        <p:nvSpPr>
          <p:cNvPr id="9" name="Text 7"/>
          <p:cNvSpPr txBox="1"/>
          <p:nvPr/>
        </p:nvSpPr>
        <p:spPr>
          <a:xfrm>
            <a:off x="1280160" y="2093976"/>
            <a:ext cx="2468880" cy="256032"/>
          </a:xfrm>
          <a:prstGeom prst="rect">
            <a:avLst/>
          </a:prstGeom>
          <a:noFill/>
          <a:ln/>
        </p:spPr>
        <p:txBody>
          <a:bodyPr wrap="square" lIns="0" tIns="0" rIns="0" bIns="0" rtlCol="0" anchor="ctr">
            <a:normAutofit/>
          </a:bodyPr>
          <a:lstStyle/>
          <a:p>
            <a:pPr algn="l" indent="0" marL="0">
              <a:lnSpc>
                <a:spcPct val="100000"/>
              </a:lnSpc>
              <a:buNone/>
            </a:pPr>
            <a:r>
              <a:rPr lang="en-US" sz="1100" b="1" spc="110" kern="0" dirty="0">
                <a:solidFill>
                  <a:srgbClr val="10172A"/>
                </a:solidFill>
                <a:latin typeface="Inter" pitchFamily="34" charset="0"/>
                <a:ea typeface="Inter" pitchFamily="34" charset="-122"/>
                <a:cs typeface="Inter" pitchFamily="34" charset="-120"/>
              </a:rPr>
              <a:t>BEGINNER</a:t>
            </a:r>
            <a:endParaRPr lang="en-US" sz="1100" dirty="0"/>
          </a:p>
        </p:txBody>
      </p:sp>
      <p:sp>
        <p:nvSpPr>
          <p:cNvPr id="10" name="Text 8"/>
          <p:cNvSpPr txBox="1"/>
          <p:nvPr/>
        </p:nvSpPr>
        <p:spPr>
          <a:xfrm>
            <a:off x="786384" y="2633472"/>
            <a:ext cx="3017520" cy="704088"/>
          </a:xfrm>
          <a:prstGeom prst="rect">
            <a:avLst/>
          </a:prstGeom>
          <a:noFill/>
          <a:ln/>
        </p:spPr>
        <p:txBody>
          <a:bodyPr wrap="square" lIns="0" tIns="0" rIns="0" bIns="0" rtlCol="0" anchor="t">
            <a:normAutofit/>
          </a:bodyPr>
          <a:lstStyle/>
          <a:p>
            <a:pPr algn="l" indent="0" marL="0">
              <a:lnSpc>
                <a:spcPct val="100000"/>
              </a:lnSpc>
              <a:buNone/>
            </a:pPr>
            <a:r>
              <a:rPr lang="en-US" sz="1500" b="1" dirty="0">
                <a:solidFill>
                  <a:srgbClr val="202A40"/>
                </a:solidFill>
                <a:latin typeface="Inter" pitchFamily="34" charset="0"/>
                <a:ea typeface="Inter" pitchFamily="34" charset="-122"/>
                <a:cs typeface="Inter" pitchFamily="34" charset="-120"/>
              </a:rPr>
              <a:t>Can shallow QAOA find a known small solution?</a:t>
            </a:r>
            <a:endParaRPr lang="en-US" sz="1500" dirty="0"/>
          </a:p>
        </p:txBody>
      </p:sp>
      <p:sp>
        <p:nvSpPr>
          <p:cNvPr id="11" name="Shape 9"/>
          <p:cNvSpPr/>
          <p:nvPr/>
        </p:nvSpPr>
        <p:spPr>
          <a:xfrm>
            <a:off x="768096" y="3511296"/>
            <a:ext cx="3054096" cy="640080"/>
          </a:xfrm>
          <a:prstGeom prst="roundRect">
            <a:avLst>
              <a:gd name="adj" fmla="val 14286"/>
            </a:avLst>
          </a:prstGeom>
          <a:solidFill>
            <a:srgbClr val="E2F8F9"/>
          </a:solidFill>
          <a:ln w="12700">
            <a:solidFill>
              <a:srgbClr val="E2F8F9"/>
            </a:solidFill>
            <a:prstDash val="solid"/>
          </a:ln>
        </p:spPr>
        <p:txBody>
          <a:bodyPr/>
          <a:p/>
        </p:txBody>
      </p:sp>
      <p:sp>
        <p:nvSpPr>
          <p:cNvPr id="12" name="Text 10"/>
          <p:cNvSpPr txBox="1"/>
          <p:nvPr/>
        </p:nvSpPr>
        <p:spPr>
          <a:xfrm>
            <a:off x="877824" y="3575304"/>
            <a:ext cx="2834640" cy="25603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14A8B5"/>
                </a:solidFill>
                <a:latin typeface="Inter" pitchFamily="34" charset="0"/>
                <a:ea typeface="Inter" pitchFamily="34" charset="-122"/>
                <a:cs typeface="Inter" pitchFamily="34" charset="-120"/>
              </a:rPr>
              <a:t>6 stocks  →  choose 3</a:t>
            </a:r>
            <a:endParaRPr lang="en-US" sz="1200" dirty="0"/>
          </a:p>
        </p:txBody>
      </p:sp>
      <p:sp>
        <p:nvSpPr>
          <p:cNvPr id="13" name="Text 11"/>
          <p:cNvSpPr txBox="1"/>
          <p:nvPr/>
        </p:nvSpPr>
        <p:spPr>
          <a:xfrm>
            <a:off x="877824" y="3858768"/>
            <a:ext cx="2834640" cy="182880"/>
          </a:xfrm>
          <a:prstGeom prst="rect">
            <a:avLst/>
          </a:prstGeom>
          <a:noFill/>
          <a:ln/>
        </p:spPr>
        <p:txBody>
          <a:bodyPr wrap="square" lIns="0" tIns="0" rIns="0" bIns="0" rtlCol="0" anchor="ctr">
            <a:normAutofit/>
          </a:bodyPr>
          <a:lstStyle/>
          <a:p>
            <a:pPr algn="ctr" indent="0" marL="0">
              <a:lnSpc>
                <a:spcPct val="100000"/>
              </a:lnSpc>
              <a:buNone/>
            </a:pPr>
            <a:r>
              <a:rPr lang="en-US" sz="940" dirty="0">
                <a:solidFill>
                  <a:srgbClr val="5D6B84"/>
                </a:solidFill>
                <a:latin typeface="Inter" pitchFamily="34" charset="0"/>
                <a:ea typeface="Inter" pitchFamily="34" charset="-122"/>
                <a:cs typeface="Inter" pitchFamily="34" charset="-120"/>
              </a:rPr>
              <a:t>20 possible portfolios</a:t>
            </a:r>
            <a:endParaRPr lang="en-US" sz="940" dirty="0"/>
          </a:p>
        </p:txBody>
      </p:sp>
      <p:sp>
        <p:nvSpPr>
          <p:cNvPr id="14" name="Text 12"/>
          <p:cNvSpPr txBox="1"/>
          <p:nvPr/>
        </p:nvSpPr>
        <p:spPr>
          <a:xfrm>
            <a:off x="795528" y="4416552"/>
            <a:ext cx="914400" cy="164592"/>
          </a:xfrm>
          <a:prstGeom prst="rect">
            <a:avLst/>
          </a:prstGeom>
          <a:noFill/>
          <a:ln/>
        </p:spPr>
        <p:txBody>
          <a:bodyPr wrap="square" lIns="0" tIns="0" rIns="0" bIns="0" rtlCol="0" anchor="ctr">
            <a:normAutofit/>
          </a:bodyPr>
          <a:lstStyle/>
          <a:p>
            <a:pPr algn="l" indent="0" marL="0">
              <a:lnSpc>
                <a:spcPct val="100000"/>
              </a:lnSpc>
              <a:buNone/>
            </a:pPr>
            <a:r>
              <a:rPr lang="en-US" sz="800" b="1" spc="100" kern="0" dirty="0">
                <a:solidFill>
                  <a:srgbClr val="8B98AE"/>
                </a:solidFill>
                <a:latin typeface="Inter" pitchFamily="34" charset="0"/>
                <a:ea typeface="Inter" pitchFamily="34" charset="-122"/>
                <a:cs typeface="Inter" pitchFamily="34" charset="-120"/>
              </a:rPr>
              <a:t>METHOD</a:t>
            </a:r>
            <a:endParaRPr lang="en-US" sz="800" dirty="0"/>
          </a:p>
        </p:txBody>
      </p:sp>
      <p:sp>
        <p:nvSpPr>
          <p:cNvPr id="15" name="Text 13"/>
          <p:cNvSpPr txBox="1"/>
          <p:nvPr/>
        </p:nvSpPr>
        <p:spPr>
          <a:xfrm>
            <a:off x="795528" y="4636008"/>
            <a:ext cx="2999232" cy="27432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QAOA · p = 1</a:t>
            </a:r>
            <a:endParaRPr lang="en-US" sz="1200" dirty="0"/>
          </a:p>
        </p:txBody>
      </p:sp>
      <p:sp>
        <p:nvSpPr>
          <p:cNvPr id="16" name="Text 14"/>
          <p:cNvSpPr txBox="1"/>
          <p:nvPr/>
        </p:nvSpPr>
        <p:spPr>
          <a:xfrm>
            <a:off x="795528" y="5029200"/>
            <a:ext cx="2999232" cy="237744"/>
          </a:xfrm>
          <a:prstGeom prst="rect">
            <a:avLst/>
          </a:prstGeom>
          <a:noFill/>
          <a:ln/>
        </p:spPr>
        <p:txBody>
          <a:bodyPr wrap="square" lIns="0" tIns="0" rIns="0" bIns="0" rtlCol="0" anchor="ctr">
            <a:normAutofit/>
          </a:bodyPr>
          <a:lstStyle/>
          <a:p>
            <a:pPr algn="l" indent="0" marL="0">
              <a:lnSpc>
                <a:spcPct val="100000"/>
              </a:lnSpc>
              <a:buNone/>
            </a:pPr>
            <a:r>
              <a:rPr lang="en-US" sz="910" dirty="0">
                <a:solidFill>
                  <a:srgbClr val="5D6B84"/>
                </a:solidFill>
                <a:latin typeface="Inter" pitchFamily="34" charset="0"/>
                <a:ea typeface="Inter" pitchFamily="34" charset="-122"/>
                <a:cs typeface="Inter" pitchFamily="34" charset="-120"/>
              </a:rPr>
              <a:t>Simulator + IBM hardware</a:t>
            </a:r>
            <a:endParaRPr lang="en-US" sz="910" dirty="0"/>
          </a:p>
        </p:txBody>
      </p:sp>
      <p:sp>
        <p:nvSpPr>
          <p:cNvPr id="17" name="Shape 15"/>
          <p:cNvSpPr/>
          <p:nvPr/>
        </p:nvSpPr>
        <p:spPr>
          <a:xfrm>
            <a:off x="4261104" y="1874520"/>
            <a:ext cx="3456432" cy="3602736"/>
          </a:xfrm>
          <a:prstGeom prst="roundRect">
            <a:avLst>
              <a:gd name="adj" fmla="val 3704"/>
            </a:avLst>
          </a:prstGeom>
          <a:solidFill>
            <a:srgbClr val="FFFFFF"/>
          </a:solidFill>
          <a:ln w="10160">
            <a:solidFill>
              <a:srgbClr val="DEE5F0"/>
            </a:solidFill>
            <a:prstDash val="solid"/>
          </a:ln>
        </p:spPr>
        <p:txBody>
          <a:bodyPr/>
          <a:p/>
        </p:txBody>
      </p:sp>
      <p:sp>
        <p:nvSpPr>
          <p:cNvPr id="18" name="Shape 16"/>
          <p:cNvSpPr/>
          <p:nvPr/>
        </p:nvSpPr>
        <p:spPr>
          <a:xfrm>
            <a:off x="4261104" y="1874520"/>
            <a:ext cx="3456432" cy="73152"/>
          </a:xfrm>
          <a:prstGeom prst="rect">
            <a:avLst/>
          </a:prstGeom>
          <a:solidFill>
            <a:srgbClr val="6D4AFF"/>
          </a:solidFill>
          <a:ln w="12700">
            <a:solidFill>
              <a:srgbClr val="6D4AFF"/>
            </a:solidFill>
            <a:prstDash val="solid"/>
          </a:ln>
        </p:spPr>
        <p:txBody>
          <a:bodyPr/>
          <a:p/>
        </p:txBody>
      </p:sp>
      <p:sp>
        <p:nvSpPr>
          <p:cNvPr id="19" name="Text 17"/>
          <p:cNvSpPr txBox="1"/>
          <p:nvPr/>
        </p:nvSpPr>
        <p:spPr>
          <a:xfrm>
            <a:off x="4462272" y="2075688"/>
            <a:ext cx="420624" cy="310896"/>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6D4AFF"/>
                </a:solidFill>
                <a:latin typeface="Inter" pitchFamily="34" charset="0"/>
                <a:ea typeface="Inter" pitchFamily="34" charset="-122"/>
                <a:cs typeface="Inter" pitchFamily="34" charset="-120"/>
              </a:rPr>
              <a:t>02</a:t>
            </a:r>
            <a:endParaRPr lang="en-US" sz="2000" dirty="0"/>
          </a:p>
        </p:txBody>
      </p:sp>
      <p:sp>
        <p:nvSpPr>
          <p:cNvPr id="20" name="Text 18"/>
          <p:cNvSpPr txBox="1"/>
          <p:nvPr/>
        </p:nvSpPr>
        <p:spPr>
          <a:xfrm>
            <a:off x="4974336" y="2093976"/>
            <a:ext cx="2468880" cy="256032"/>
          </a:xfrm>
          <a:prstGeom prst="rect">
            <a:avLst/>
          </a:prstGeom>
          <a:noFill/>
          <a:ln/>
        </p:spPr>
        <p:txBody>
          <a:bodyPr wrap="square" lIns="0" tIns="0" rIns="0" bIns="0" rtlCol="0" anchor="ctr">
            <a:normAutofit/>
          </a:bodyPr>
          <a:lstStyle/>
          <a:p>
            <a:pPr algn="l" indent="0" marL="0">
              <a:lnSpc>
                <a:spcPct val="100000"/>
              </a:lnSpc>
              <a:buNone/>
            </a:pPr>
            <a:r>
              <a:rPr lang="en-US" sz="1100" b="1" spc="110" kern="0" dirty="0">
                <a:solidFill>
                  <a:srgbClr val="10172A"/>
                </a:solidFill>
                <a:latin typeface="Inter" pitchFamily="34" charset="0"/>
                <a:ea typeface="Inter" pitchFamily="34" charset="-122"/>
                <a:cs typeface="Inter" pitchFamily="34" charset="-120"/>
              </a:rPr>
              <a:t>INTERMEDIATE</a:t>
            </a:r>
            <a:endParaRPr lang="en-US" sz="1100" dirty="0"/>
          </a:p>
        </p:txBody>
      </p:sp>
      <p:sp>
        <p:nvSpPr>
          <p:cNvPr id="21" name="Text 19"/>
          <p:cNvSpPr txBox="1"/>
          <p:nvPr/>
        </p:nvSpPr>
        <p:spPr>
          <a:xfrm>
            <a:off x="4480560" y="2633472"/>
            <a:ext cx="3017520" cy="704088"/>
          </a:xfrm>
          <a:prstGeom prst="rect">
            <a:avLst/>
          </a:prstGeom>
          <a:noFill/>
          <a:ln/>
        </p:spPr>
        <p:txBody>
          <a:bodyPr wrap="square" lIns="0" tIns="0" rIns="0" bIns="0" rtlCol="0" anchor="t">
            <a:normAutofit/>
          </a:bodyPr>
          <a:lstStyle/>
          <a:p>
            <a:pPr algn="l" indent="0" marL="0">
              <a:lnSpc>
                <a:spcPct val="100000"/>
              </a:lnSpc>
              <a:buNone/>
            </a:pPr>
            <a:r>
              <a:rPr lang="en-US" sz="1500" b="1" dirty="0">
                <a:solidFill>
                  <a:srgbClr val="202A40"/>
                </a:solidFill>
                <a:latin typeface="Inter" pitchFamily="34" charset="0"/>
                <a:ea typeface="Inter" pitchFamily="34" charset="-122"/>
                <a:cs typeface="Inter" pitchFamily="34" charset="-120"/>
              </a:rPr>
              <a:t>Can a quantum kernel represent portfolio similarity?</a:t>
            </a:r>
            <a:endParaRPr lang="en-US" sz="1500" dirty="0"/>
          </a:p>
        </p:txBody>
      </p:sp>
      <p:sp>
        <p:nvSpPr>
          <p:cNvPr id="22" name="Shape 20"/>
          <p:cNvSpPr/>
          <p:nvPr/>
        </p:nvSpPr>
        <p:spPr>
          <a:xfrm>
            <a:off x="4462272" y="3511296"/>
            <a:ext cx="3054096" cy="640080"/>
          </a:xfrm>
          <a:prstGeom prst="roundRect">
            <a:avLst>
              <a:gd name="adj" fmla="val 14286"/>
            </a:avLst>
          </a:prstGeom>
          <a:solidFill>
            <a:srgbClr val="EFEBFF"/>
          </a:solidFill>
          <a:ln w="12700">
            <a:solidFill>
              <a:srgbClr val="EFEBFF"/>
            </a:solidFill>
            <a:prstDash val="solid"/>
          </a:ln>
        </p:spPr>
        <p:txBody>
          <a:bodyPr/>
          <a:p/>
        </p:txBody>
      </p:sp>
      <p:sp>
        <p:nvSpPr>
          <p:cNvPr id="23" name="Text 21"/>
          <p:cNvSpPr txBox="1"/>
          <p:nvPr/>
        </p:nvSpPr>
        <p:spPr>
          <a:xfrm>
            <a:off x="4572000" y="3575304"/>
            <a:ext cx="2834640" cy="25603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6D4AFF"/>
                </a:solidFill>
                <a:latin typeface="Inter" pitchFamily="34" charset="0"/>
                <a:ea typeface="Inter" pitchFamily="34" charset="-122"/>
                <a:cs typeface="Inter" pitchFamily="34" charset="-120"/>
              </a:rPr>
              <a:t>12 stocks  →  choose 6</a:t>
            </a:r>
            <a:endParaRPr lang="en-US" sz="1200" dirty="0"/>
          </a:p>
        </p:txBody>
      </p:sp>
      <p:sp>
        <p:nvSpPr>
          <p:cNvPr id="24" name="Text 22"/>
          <p:cNvSpPr txBox="1"/>
          <p:nvPr/>
        </p:nvSpPr>
        <p:spPr>
          <a:xfrm>
            <a:off x="4572000" y="3858768"/>
            <a:ext cx="2834640" cy="182880"/>
          </a:xfrm>
          <a:prstGeom prst="rect">
            <a:avLst/>
          </a:prstGeom>
          <a:noFill/>
          <a:ln/>
        </p:spPr>
        <p:txBody>
          <a:bodyPr wrap="square" lIns="0" tIns="0" rIns="0" bIns="0" rtlCol="0" anchor="ctr">
            <a:normAutofit/>
          </a:bodyPr>
          <a:lstStyle/>
          <a:p>
            <a:pPr algn="ctr" indent="0" marL="0">
              <a:lnSpc>
                <a:spcPct val="100000"/>
              </a:lnSpc>
              <a:buNone/>
            </a:pPr>
            <a:r>
              <a:rPr lang="en-US" sz="940" dirty="0">
                <a:solidFill>
                  <a:srgbClr val="5D6B84"/>
                </a:solidFill>
                <a:latin typeface="Inter" pitchFamily="34" charset="0"/>
                <a:ea typeface="Inter" pitchFamily="34" charset="-122"/>
                <a:cs typeface="Inter" pitchFamily="34" charset="-120"/>
              </a:rPr>
              <a:t>924 candidate portfolios</a:t>
            </a:r>
            <a:endParaRPr lang="en-US" sz="940" dirty="0"/>
          </a:p>
        </p:txBody>
      </p:sp>
      <p:sp>
        <p:nvSpPr>
          <p:cNvPr id="25" name="Text 23"/>
          <p:cNvSpPr txBox="1"/>
          <p:nvPr/>
        </p:nvSpPr>
        <p:spPr>
          <a:xfrm>
            <a:off x="4489704" y="4416552"/>
            <a:ext cx="914400" cy="164592"/>
          </a:xfrm>
          <a:prstGeom prst="rect">
            <a:avLst/>
          </a:prstGeom>
          <a:noFill/>
          <a:ln/>
        </p:spPr>
        <p:txBody>
          <a:bodyPr wrap="square" lIns="0" tIns="0" rIns="0" bIns="0" rtlCol="0" anchor="ctr">
            <a:normAutofit/>
          </a:bodyPr>
          <a:lstStyle/>
          <a:p>
            <a:pPr algn="l" indent="0" marL="0">
              <a:lnSpc>
                <a:spcPct val="100000"/>
              </a:lnSpc>
              <a:buNone/>
            </a:pPr>
            <a:r>
              <a:rPr lang="en-US" sz="800" b="1" spc="100" kern="0" dirty="0">
                <a:solidFill>
                  <a:srgbClr val="8B98AE"/>
                </a:solidFill>
                <a:latin typeface="Inter" pitchFamily="34" charset="0"/>
                <a:ea typeface="Inter" pitchFamily="34" charset="-122"/>
                <a:cs typeface="Inter" pitchFamily="34" charset="-120"/>
              </a:rPr>
              <a:t>METHOD</a:t>
            </a:r>
            <a:endParaRPr lang="en-US" sz="800" dirty="0"/>
          </a:p>
        </p:txBody>
      </p:sp>
      <p:sp>
        <p:nvSpPr>
          <p:cNvPr id="26" name="Text 24"/>
          <p:cNvSpPr txBox="1"/>
          <p:nvPr/>
        </p:nvSpPr>
        <p:spPr>
          <a:xfrm>
            <a:off x="4489704" y="4636008"/>
            <a:ext cx="2999232" cy="27432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Fidelity kernel + SVM</a:t>
            </a:r>
            <a:endParaRPr lang="en-US" sz="1200" dirty="0"/>
          </a:p>
        </p:txBody>
      </p:sp>
      <p:sp>
        <p:nvSpPr>
          <p:cNvPr id="27" name="Text 25"/>
          <p:cNvSpPr txBox="1"/>
          <p:nvPr/>
        </p:nvSpPr>
        <p:spPr>
          <a:xfrm>
            <a:off x="4489704" y="5029200"/>
            <a:ext cx="2999232" cy="237744"/>
          </a:xfrm>
          <a:prstGeom prst="rect">
            <a:avLst/>
          </a:prstGeom>
          <a:noFill/>
          <a:ln/>
        </p:spPr>
        <p:txBody>
          <a:bodyPr wrap="square" lIns="0" tIns="0" rIns="0" bIns="0" rtlCol="0" anchor="ctr">
            <a:normAutofit/>
          </a:bodyPr>
          <a:lstStyle/>
          <a:p>
            <a:pPr algn="l" indent="0" marL="0">
              <a:lnSpc>
                <a:spcPct val="100000"/>
              </a:lnSpc>
              <a:buNone/>
            </a:pPr>
            <a:r>
              <a:rPr lang="en-US" sz="910" dirty="0">
                <a:solidFill>
                  <a:srgbClr val="5D6B84"/>
                </a:solidFill>
                <a:latin typeface="Inter" pitchFamily="34" charset="0"/>
                <a:ea typeface="Inter" pitchFamily="34" charset="-122"/>
                <a:cs typeface="Inter" pitchFamily="34" charset="-120"/>
              </a:rPr>
              <a:t>Classical comparison + small hardware demo</a:t>
            </a:r>
            <a:endParaRPr lang="en-US" sz="910" dirty="0"/>
          </a:p>
        </p:txBody>
      </p:sp>
      <p:sp>
        <p:nvSpPr>
          <p:cNvPr id="28" name="Shape 26"/>
          <p:cNvSpPr/>
          <p:nvPr/>
        </p:nvSpPr>
        <p:spPr>
          <a:xfrm>
            <a:off x="7955280" y="1874520"/>
            <a:ext cx="3456432" cy="3602736"/>
          </a:xfrm>
          <a:prstGeom prst="roundRect">
            <a:avLst>
              <a:gd name="adj" fmla="val 3704"/>
            </a:avLst>
          </a:prstGeom>
          <a:solidFill>
            <a:srgbClr val="FFFFFF"/>
          </a:solidFill>
          <a:ln w="10160">
            <a:solidFill>
              <a:srgbClr val="DEE5F0"/>
            </a:solidFill>
            <a:prstDash val="solid"/>
          </a:ln>
        </p:spPr>
        <p:txBody>
          <a:bodyPr/>
          <a:p/>
        </p:txBody>
      </p:sp>
      <p:sp>
        <p:nvSpPr>
          <p:cNvPr id="29" name="Shape 27"/>
          <p:cNvSpPr/>
          <p:nvPr/>
        </p:nvSpPr>
        <p:spPr>
          <a:xfrm>
            <a:off x="7955280" y="1874520"/>
            <a:ext cx="3456432" cy="73152"/>
          </a:xfrm>
          <a:prstGeom prst="rect">
            <a:avLst/>
          </a:prstGeom>
          <a:solidFill>
            <a:srgbClr val="E96E5B"/>
          </a:solidFill>
          <a:ln w="12700">
            <a:solidFill>
              <a:srgbClr val="E96E5B"/>
            </a:solidFill>
            <a:prstDash val="solid"/>
          </a:ln>
        </p:spPr>
        <p:txBody>
          <a:bodyPr/>
          <a:p/>
        </p:txBody>
      </p:sp>
      <p:sp>
        <p:nvSpPr>
          <p:cNvPr id="30" name="Text 28"/>
          <p:cNvSpPr txBox="1"/>
          <p:nvPr/>
        </p:nvSpPr>
        <p:spPr>
          <a:xfrm>
            <a:off x="8156448" y="2075688"/>
            <a:ext cx="420624" cy="310896"/>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E96E5B"/>
                </a:solidFill>
                <a:latin typeface="Inter" pitchFamily="34" charset="0"/>
                <a:ea typeface="Inter" pitchFamily="34" charset="-122"/>
                <a:cs typeface="Inter" pitchFamily="34" charset="-120"/>
              </a:rPr>
              <a:t>03</a:t>
            </a:r>
            <a:endParaRPr lang="en-US" sz="2000" dirty="0"/>
          </a:p>
        </p:txBody>
      </p:sp>
      <p:sp>
        <p:nvSpPr>
          <p:cNvPr id="31" name="Text 29"/>
          <p:cNvSpPr txBox="1"/>
          <p:nvPr/>
        </p:nvSpPr>
        <p:spPr>
          <a:xfrm>
            <a:off x="8668512" y="2093976"/>
            <a:ext cx="2468880" cy="256032"/>
          </a:xfrm>
          <a:prstGeom prst="rect">
            <a:avLst/>
          </a:prstGeom>
          <a:noFill/>
          <a:ln/>
        </p:spPr>
        <p:txBody>
          <a:bodyPr wrap="square" lIns="0" tIns="0" rIns="0" bIns="0" rtlCol="0" anchor="ctr">
            <a:normAutofit/>
          </a:bodyPr>
          <a:lstStyle/>
          <a:p>
            <a:pPr algn="l" indent="0" marL="0">
              <a:lnSpc>
                <a:spcPct val="100000"/>
              </a:lnSpc>
              <a:buNone/>
            </a:pPr>
            <a:r>
              <a:rPr lang="en-US" sz="1100" b="1" spc="110" kern="0" dirty="0">
                <a:solidFill>
                  <a:srgbClr val="10172A"/>
                </a:solidFill>
                <a:latin typeface="Inter" pitchFamily="34" charset="0"/>
                <a:ea typeface="Inter" pitchFamily="34" charset="-122"/>
                <a:cs typeface="Inter" pitchFamily="34" charset="-120"/>
              </a:rPr>
              <a:t>ADVANCED</a:t>
            </a:r>
            <a:endParaRPr lang="en-US" sz="1100" dirty="0"/>
          </a:p>
        </p:txBody>
      </p:sp>
      <p:sp>
        <p:nvSpPr>
          <p:cNvPr id="32" name="Text 30"/>
          <p:cNvSpPr txBox="1"/>
          <p:nvPr/>
        </p:nvSpPr>
        <p:spPr>
          <a:xfrm>
            <a:off x="8174736" y="2633472"/>
            <a:ext cx="3017520" cy="704088"/>
          </a:xfrm>
          <a:prstGeom prst="rect">
            <a:avLst/>
          </a:prstGeom>
          <a:noFill/>
          <a:ln/>
        </p:spPr>
        <p:txBody>
          <a:bodyPr wrap="square" lIns="0" tIns="0" rIns="0" bIns="0" rtlCol="0" anchor="t">
            <a:normAutofit/>
          </a:bodyPr>
          <a:lstStyle/>
          <a:p>
            <a:pPr algn="l" indent="0" marL="0">
              <a:lnSpc>
                <a:spcPct val="100000"/>
              </a:lnSpc>
              <a:buNone/>
            </a:pPr>
            <a:r>
              <a:rPr lang="en-US" sz="1500" b="1" dirty="0">
                <a:solidFill>
                  <a:srgbClr val="202A40"/>
                </a:solidFill>
                <a:latin typeface="Inter" pitchFamily="34" charset="0"/>
                <a:ea typeface="Inter" pitchFamily="34" charset="-122"/>
                <a:cs typeface="Inter" pitchFamily="34" charset="-120"/>
              </a:rPr>
              <a:t>What changes when sector rules are enforced?</a:t>
            </a:r>
            <a:endParaRPr lang="en-US" sz="1500" dirty="0"/>
          </a:p>
        </p:txBody>
      </p:sp>
      <p:sp>
        <p:nvSpPr>
          <p:cNvPr id="33" name="Shape 31"/>
          <p:cNvSpPr/>
          <p:nvPr/>
        </p:nvSpPr>
        <p:spPr>
          <a:xfrm>
            <a:off x="8156448" y="3511296"/>
            <a:ext cx="3054096" cy="640080"/>
          </a:xfrm>
          <a:prstGeom prst="roundRect">
            <a:avLst>
              <a:gd name="adj" fmla="val 14286"/>
            </a:avLst>
          </a:prstGeom>
          <a:solidFill>
            <a:srgbClr val="FDEBE7"/>
          </a:solidFill>
          <a:ln w="12700">
            <a:solidFill>
              <a:srgbClr val="FDEBE7"/>
            </a:solidFill>
            <a:prstDash val="solid"/>
          </a:ln>
        </p:spPr>
        <p:txBody>
          <a:bodyPr/>
          <a:p/>
        </p:txBody>
      </p:sp>
      <p:sp>
        <p:nvSpPr>
          <p:cNvPr id="34" name="Text 32"/>
          <p:cNvSpPr txBox="1"/>
          <p:nvPr/>
        </p:nvSpPr>
        <p:spPr>
          <a:xfrm>
            <a:off x="8266176" y="3575304"/>
            <a:ext cx="2834640" cy="256032"/>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E96E5B"/>
                </a:solidFill>
                <a:latin typeface="Inter" pitchFamily="34" charset="0"/>
                <a:ea typeface="Inter" pitchFamily="34" charset="-122"/>
                <a:cs typeface="Inter" pitchFamily="34" charset="-120"/>
              </a:rPr>
              <a:t>20 stocks  →  choose 10</a:t>
            </a:r>
            <a:endParaRPr lang="en-US" sz="1200" dirty="0"/>
          </a:p>
        </p:txBody>
      </p:sp>
      <p:sp>
        <p:nvSpPr>
          <p:cNvPr id="35" name="Text 33"/>
          <p:cNvSpPr txBox="1"/>
          <p:nvPr/>
        </p:nvSpPr>
        <p:spPr>
          <a:xfrm>
            <a:off x="8266176" y="3858768"/>
            <a:ext cx="2834640" cy="182880"/>
          </a:xfrm>
          <a:prstGeom prst="rect">
            <a:avLst/>
          </a:prstGeom>
          <a:noFill/>
          <a:ln/>
        </p:spPr>
        <p:txBody>
          <a:bodyPr wrap="square" lIns="0" tIns="0" rIns="0" bIns="0" rtlCol="0" anchor="ctr">
            <a:normAutofit/>
          </a:bodyPr>
          <a:lstStyle/>
          <a:p>
            <a:pPr algn="ctr" indent="0" marL="0">
              <a:lnSpc>
                <a:spcPct val="100000"/>
              </a:lnSpc>
              <a:buNone/>
            </a:pPr>
            <a:r>
              <a:rPr lang="en-US" sz="940" dirty="0">
                <a:solidFill>
                  <a:srgbClr val="5D6B84"/>
                </a:solidFill>
                <a:latin typeface="Inter" pitchFamily="34" charset="0"/>
                <a:ea typeface="Inter" pitchFamily="34" charset="-122"/>
                <a:cs typeface="Inter" pitchFamily="34" charset="-120"/>
              </a:rPr>
              <a:t>7,776 feasible portfolios</a:t>
            </a:r>
            <a:endParaRPr lang="en-US" sz="940" dirty="0"/>
          </a:p>
        </p:txBody>
      </p:sp>
      <p:sp>
        <p:nvSpPr>
          <p:cNvPr id="36" name="Text 34"/>
          <p:cNvSpPr txBox="1"/>
          <p:nvPr/>
        </p:nvSpPr>
        <p:spPr>
          <a:xfrm>
            <a:off x="8183880" y="4416552"/>
            <a:ext cx="914400" cy="164592"/>
          </a:xfrm>
          <a:prstGeom prst="rect">
            <a:avLst/>
          </a:prstGeom>
          <a:noFill/>
          <a:ln/>
        </p:spPr>
        <p:txBody>
          <a:bodyPr wrap="square" lIns="0" tIns="0" rIns="0" bIns="0" rtlCol="0" anchor="ctr">
            <a:normAutofit/>
          </a:bodyPr>
          <a:lstStyle/>
          <a:p>
            <a:pPr algn="l" indent="0" marL="0">
              <a:lnSpc>
                <a:spcPct val="100000"/>
              </a:lnSpc>
              <a:buNone/>
            </a:pPr>
            <a:r>
              <a:rPr lang="en-US" sz="800" b="1" spc="100" kern="0" dirty="0">
                <a:solidFill>
                  <a:srgbClr val="8B98AE"/>
                </a:solidFill>
                <a:latin typeface="Inter" pitchFamily="34" charset="0"/>
                <a:ea typeface="Inter" pitchFamily="34" charset="-122"/>
                <a:cs typeface="Inter" pitchFamily="34" charset="-120"/>
              </a:rPr>
              <a:t>METHOD</a:t>
            </a:r>
            <a:endParaRPr lang="en-US" sz="800" dirty="0"/>
          </a:p>
        </p:txBody>
      </p:sp>
      <p:sp>
        <p:nvSpPr>
          <p:cNvPr id="37" name="Text 35"/>
          <p:cNvSpPr txBox="1"/>
          <p:nvPr/>
        </p:nvSpPr>
        <p:spPr>
          <a:xfrm>
            <a:off x="8183880" y="4636008"/>
            <a:ext cx="2999232" cy="27432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Constrained QAOA · p = 1</a:t>
            </a:r>
            <a:endParaRPr lang="en-US" sz="1200" dirty="0"/>
          </a:p>
        </p:txBody>
      </p:sp>
      <p:sp>
        <p:nvSpPr>
          <p:cNvPr id="38" name="Text 36"/>
          <p:cNvSpPr txBox="1"/>
          <p:nvPr/>
        </p:nvSpPr>
        <p:spPr>
          <a:xfrm>
            <a:off x="8183880" y="5029200"/>
            <a:ext cx="2999232" cy="237744"/>
          </a:xfrm>
          <a:prstGeom prst="rect">
            <a:avLst/>
          </a:prstGeom>
          <a:noFill/>
          <a:ln/>
        </p:spPr>
        <p:txBody>
          <a:bodyPr wrap="square" lIns="0" tIns="0" rIns="0" bIns="0" rtlCol="0" anchor="ctr">
            <a:normAutofit/>
          </a:bodyPr>
          <a:lstStyle/>
          <a:p>
            <a:pPr algn="l" indent="0" marL="0">
              <a:lnSpc>
                <a:spcPct val="100000"/>
              </a:lnSpc>
              <a:buNone/>
            </a:pPr>
            <a:r>
              <a:rPr lang="en-US" sz="910" dirty="0">
                <a:solidFill>
                  <a:srgbClr val="5D6B84"/>
                </a:solidFill>
                <a:latin typeface="Inter" pitchFamily="34" charset="0"/>
                <a:ea typeface="Inter" pitchFamily="34" charset="-122"/>
                <a:cs typeface="Inter" pitchFamily="34" charset="-120"/>
              </a:rPr>
              <a:t>Exact baseline + simulator + hardware</a:t>
            </a:r>
            <a:endParaRPr lang="en-US" sz="910" dirty="0"/>
          </a:p>
        </p:txBody>
      </p:sp>
      <p:sp>
        <p:nvSpPr>
          <p:cNvPr id="39" name="Text 37"/>
          <p:cNvSpPr txBox="1"/>
          <p:nvPr/>
        </p:nvSpPr>
        <p:spPr>
          <a:xfrm>
            <a:off x="594360" y="5760720"/>
            <a:ext cx="1024128" cy="182880"/>
          </a:xfrm>
          <a:prstGeom prst="rect">
            <a:avLst/>
          </a:prstGeom>
          <a:noFill/>
          <a:ln/>
        </p:spPr>
        <p:txBody>
          <a:bodyPr wrap="square" lIns="0" tIns="0" rIns="0" bIns="0" rtlCol="0" anchor="ctr">
            <a:normAutofit/>
          </a:bodyPr>
          <a:lstStyle/>
          <a:p>
            <a:pPr algn="l" indent="0" marL="0">
              <a:lnSpc>
                <a:spcPct val="100000"/>
              </a:lnSpc>
              <a:buNone/>
            </a:pPr>
            <a:r>
              <a:rPr lang="en-US" sz="800" b="1" spc="120" kern="0" dirty="0">
                <a:solidFill>
                  <a:srgbClr val="8B98AE"/>
                </a:solidFill>
                <a:latin typeface="Inter" pitchFamily="34" charset="0"/>
                <a:ea typeface="Inter" pitchFamily="34" charset="-122"/>
                <a:cs typeface="Inter" pitchFamily="34" charset="-120"/>
              </a:rPr>
              <a:t>PROGRESSION</a:t>
            </a:r>
            <a:endParaRPr lang="en-US" sz="800" dirty="0"/>
          </a:p>
        </p:txBody>
      </p:sp>
      <p:sp>
        <p:nvSpPr>
          <p:cNvPr id="40" name="Text 38"/>
          <p:cNvSpPr txBox="1"/>
          <p:nvPr/>
        </p:nvSpPr>
        <p:spPr>
          <a:xfrm>
            <a:off x="1645920" y="5724144"/>
            <a:ext cx="9601200" cy="256032"/>
          </a:xfrm>
          <a:prstGeom prst="rect">
            <a:avLst/>
          </a:prstGeom>
          <a:noFill/>
          <a:ln/>
        </p:spPr>
        <p:txBody>
          <a:bodyPr wrap="square" lIns="0" tIns="0" rIns="0" bIns="0" rtlCol="0" anchor="ctr">
            <a:normAutofit/>
          </a:bodyPr>
          <a:lstStyle/>
          <a:p>
            <a:pPr algn="l" indent="0" marL="0">
              <a:lnSpc>
                <a:spcPct val="100000"/>
              </a:lnSpc>
              <a:buNone/>
            </a:pPr>
            <a:r>
              <a:rPr lang="en-US" sz="1150" b="1" dirty="0">
                <a:solidFill>
                  <a:srgbClr val="10172A"/>
                </a:solidFill>
                <a:latin typeface="Inter" pitchFamily="34" charset="0"/>
                <a:ea typeface="Inter" pitchFamily="34" charset="-122"/>
                <a:cs typeface="Inter" pitchFamily="34" charset="-120"/>
              </a:rPr>
              <a:t>Learn the algorithm  →  explore quantum similarity  →  stress-test constraints and hardware</a:t>
            </a:r>
            <a:endParaRPr lang="en-US" sz="115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84048"/>
            <a:ext cx="141732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3075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HOW IT WORKS</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From an investment question to a quantum experiment</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The classical model defines the goal; the circuit samples candidate answers; classical code checks them.</a:t>
            </a:r>
            <a:endParaRPr lang="en-US" sz="1220" dirty="0"/>
          </a:p>
        </p:txBody>
      </p:sp>
      <p:sp>
        <p:nvSpPr>
          <p:cNvPr id="6" name="Shape 4"/>
          <p:cNvSpPr/>
          <p:nvPr/>
        </p:nvSpPr>
        <p:spPr>
          <a:xfrm>
            <a:off x="566928" y="1847088"/>
            <a:ext cx="5532120" cy="1938528"/>
          </a:xfrm>
          <a:prstGeom prst="roundRect">
            <a:avLst>
              <a:gd name="adj" fmla="val 6604"/>
            </a:avLst>
          </a:prstGeom>
          <a:solidFill>
            <a:srgbClr val="FFFFFF"/>
          </a:solidFill>
          <a:ln w="10160">
            <a:solidFill>
              <a:srgbClr val="DEE5F0"/>
            </a:solidFill>
            <a:prstDash val="solid"/>
          </a:ln>
        </p:spPr>
        <p:txBody>
          <a:bodyPr/>
          <a:p/>
        </p:txBody>
      </p:sp>
      <p:sp>
        <p:nvSpPr>
          <p:cNvPr id="7" name="Shape 5"/>
          <p:cNvSpPr/>
          <p:nvPr/>
        </p:nvSpPr>
        <p:spPr>
          <a:xfrm>
            <a:off x="804672" y="2057400"/>
            <a:ext cx="2304288"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8" name="Text 6"/>
          <p:cNvSpPr txBox="1"/>
          <p:nvPr/>
        </p:nvSpPr>
        <p:spPr>
          <a:xfrm>
            <a:off x="859536" y="2066544"/>
            <a:ext cx="2194560"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CORE RISK–RETURN OBJECTIVE</a:t>
            </a:r>
            <a:endParaRPr lang="en-US" sz="850" dirty="0"/>
          </a:p>
        </p:txBody>
      </p:sp>
      <p:sp>
        <p:nvSpPr>
          <p:cNvPr id="9" name="Text 7"/>
          <p:cNvSpPr txBox="1"/>
          <p:nvPr/>
        </p:nvSpPr>
        <p:spPr>
          <a:xfrm>
            <a:off x="804672" y="2542032"/>
            <a:ext cx="4937760" cy="438912"/>
          </a:xfrm>
          <a:prstGeom prst="rect">
            <a:avLst/>
          </a:prstGeom>
          <a:noFill/>
          <a:ln/>
        </p:spPr>
        <p:txBody>
          <a:bodyPr wrap="square" lIns="0" tIns="0" rIns="0" bIns="0" rtlCol="0" anchor="ctr">
            <a:normAutofit/>
          </a:bodyPr>
          <a:lstStyle/>
          <a:p>
            <a:pPr algn="l" indent="0" marL="0">
              <a:lnSpc>
                <a:spcPct val="100000"/>
              </a:lnSpc>
              <a:buNone/>
            </a:pPr>
            <a:r>
              <a:rPr lang="en-US" sz="2500" b="1" dirty="0">
                <a:solidFill>
                  <a:srgbClr val="10172A"/>
                </a:solidFill>
                <a:latin typeface="Inter" pitchFamily="34" charset="0"/>
                <a:ea typeface="Inter" pitchFamily="34" charset="-122"/>
                <a:cs typeface="Inter" pitchFamily="34" charset="-120"/>
              </a:rPr>
              <a:t>C(x) = q · xᵀΣx − μᵀx</a:t>
            </a:r>
            <a:endParaRPr lang="en-US" sz="2500" dirty="0"/>
          </a:p>
        </p:txBody>
      </p:sp>
      <p:sp>
        <p:nvSpPr>
          <p:cNvPr id="10" name="Text 8"/>
          <p:cNvSpPr txBox="1"/>
          <p:nvPr/>
        </p:nvSpPr>
        <p:spPr>
          <a:xfrm>
            <a:off x="813816" y="3154680"/>
            <a:ext cx="4983480" cy="402336"/>
          </a:xfrm>
          <a:prstGeom prst="rect">
            <a:avLst/>
          </a:prstGeom>
          <a:noFill/>
          <a:ln/>
        </p:spPr>
        <p:txBody>
          <a:bodyPr wrap="square" lIns="0" tIns="0" rIns="0" bIns="0" rtlCol="0" anchor="t">
            <a:normAutofit/>
          </a:bodyPr>
          <a:lstStyle/>
          <a:p>
            <a:pPr algn="l" indent="0" marL="0">
              <a:lnSpc>
                <a:spcPct val="100000"/>
              </a:lnSpc>
              <a:buNone/>
            </a:pPr>
            <a:r>
              <a:rPr lang="en-US" sz="1010" dirty="0">
                <a:solidFill>
                  <a:srgbClr val="5D6B84"/>
                </a:solidFill>
                <a:latin typeface="Inter" pitchFamily="34" charset="0"/>
                <a:ea typeface="Inter" pitchFamily="34" charset="-122"/>
                <a:cs typeface="Inter" pitchFamily="34" charset="-120"/>
              </a:rPr>
              <a:t>x: selected stocks   ·   Σ: covariance (risk)   ·   μ: expected returns   ·   q: risk preference</a:t>
            </a:r>
            <a:endParaRPr lang="en-US" sz="1010" dirty="0"/>
          </a:p>
        </p:txBody>
      </p:sp>
      <p:sp>
        <p:nvSpPr>
          <p:cNvPr id="11" name="Shape 9"/>
          <p:cNvSpPr/>
          <p:nvPr/>
        </p:nvSpPr>
        <p:spPr>
          <a:xfrm>
            <a:off x="6327648" y="1847088"/>
            <a:ext cx="5266944" cy="1938528"/>
          </a:xfrm>
          <a:prstGeom prst="roundRect">
            <a:avLst>
              <a:gd name="adj" fmla="val 6604"/>
            </a:avLst>
          </a:prstGeom>
          <a:solidFill>
            <a:srgbClr val="FFFFFF"/>
          </a:solidFill>
          <a:ln w="10160">
            <a:solidFill>
              <a:srgbClr val="DEE5F0"/>
            </a:solidFill>
            <a:prstDash val="solid"/>
          </a:ln>
        </p:spPr>
        <p:txBody>
          <a:bodyPr/>
          <a:p/>
        </p:txBody>
      </p:sp>
      <p:sp>
        <p:nvSpPr>
          <p:cNvPr id="12" name="Shape 10"/>
          <p:cNvSpPr/>
          <p:nvPr/>
        </p:nvSpPr>
        <p:spPr>
          <a:xfrm>
            <a:off x="6565392" y="2057400"/>
            <a:ext cx="1874520" cy="274320"/>
          </a:xfrm>
          <a:prstGeom prst="roundRect">
            <a:avLst>
              <a:gd name="adj" fmla="val 50000"/>
            </a:avLst>
          </a:prstGeom>
          <a:solidFill>
            <a:srgbClr val="FFF3D6"/>
          </a:solidFill>
          <a:ln w="12700">
            <a:solidFill>
              <a:srgbClr val="FFF3D6">
                <a:alpha val="0"/>
              </a:srgbClr>
            </a:solidFill>
            <a:prstDash val="solid"/>
          </a:ln>
        </p:spPr>
        <p:txBody>
          <a:bodyPr/>
          <a:p/>
        </p:txBody>
      </p:sp>
      <p:sp>
        <p:nvSpPr>
          <p:cNvPr id="13" name="Text 11"/>
          <p:cNvSpPr txBox="1"/>
          <p:nvPr/>
        </p:nvSpPr>
        <p:spPr>
          <a:xfrm>
            <a:off x="6620256" y="2066544"/>
            <a:ext cx="17647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9A6500"/>
                </a:solidFill>
                <a:latin typeface="Inter" pitchFamily="34" charset="0"/>
                <a:ea typeface="Inter" pitchFamily="34" charset="-122"/>
                <a:cs typeface="Inter" pitchFamily="34" charset="-120"/>
              </a:rPr>
              <a:t>ADVANCED CONSTRAINTS</a:t>
            </a:r>
            <a:endParaRPr lang="en-US" sz="850" dirty="0"/>
          </a:p>
        </p:txBody>
      </p:sp>
      <p:sp>
        <p:nvSpPr>
          <p:cNvPr id="14" name="Text 12"/>
          <p:cNvSpPr txBox="1"/>
          <p:nvPr/>
        </p:nvSpPr>
        <p:spPr>
          <a:xfrm>
            <a:off x="6565392" y="2542032"/>
            <a:ext cx="1993392" cy="310896"/>
          </a:xfrm>
          <a:prstGeom prst="rect">
            <a:avLst/>
          </a:prstGeom>
          <a:noFill/>
          <a:ln/>
        </p:spPr>
        <p:txBody>
          <a:bodyPr wrap="square" lIns="0" tIns="0" rIns="0" bIns="0" rtlCol="0" anchor="ctr">
            <a:normAutofit/>
          </a:bodyPr>
          <a:lstStyle/>
          <a:p>
            <a:pPr algn="l" indent="0" marL="0">
              <a:lnSpc>
                <a:spcPct val="100000"/>
              </a:lnSpc>
              <a:buNone/>
            </a:pPr>
            <a:r>
              <a:rPr lang="en-US" sz="1320" b="1" dirty="0">
                <a:solidFill>
                  <a:srgbClr val="202A40"/>
                </a:solidFill>
                <a:latin typeface="Inter" pitchFamily="34" charset="0"/>
                <a:ea typeface="Inter" pitchFamily="34" charset="-122"/>
                <a:cs typeface="Inter" pitchFamily="34" charset="-120"/>
              </a:rPr>
              <a:t>Select exactly K stocks</a:t>
            </a:r>
            <a:endParaRPr lang="en-US" sz="1320" dirty="0"/>
          </a:p>
        </p:txBody>
      </p:sp>
      <p:sp>
        <p:nvSpPr>
          <p:cNvPr id="15" name="Text 13"/>
          <p:cNvSpPr txBox="1"/>
          <p:nvPr/>
        </p:nvSpPr>
        <p:spPr>
          <a:xfrm>
            <a:off x="6565392" y="2880360"/>
            <a:ext cx="196596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6D4AFF"/>
                </a:solidFill>
                <a:latin typeface="Inter" pitchFamily="34" charset="0"/>
                <a:ea typeface="Inter" pitchFamily="34" charset="-122"/>
                <a:cs typeface="Inter" pitchFamily="34" charset="-120"/>
              </a:rPr>
              <a:t>Σᵢ xᵢ = K</a:t>
            </a:r>
            <a:endParaRPr lang="en-US" sz="1700" dirty="0"/>
          </a:p>
        </p:txBody>
      </p:sp>
      <p:sp>
        <p:nvSpPr>
          <p:cNvPr id="16" name="Text 14"/>
          <p:cNvSpPr txBox="1"/>
          <p:nvPr/>
        </p:nvSpPr>
        <p:spPr>
          <a:xfrm>
            <a:off x="8842248" y="2542032"/>
            <a:ext cx="2331720" cy="310896"/>
          </a:xfrm>
          <a:prstGeom prst="rect">
            <a:avLst/>
          </a:prstGeom>
          <a:noFill/>
          <a:ln/>
        </p:spPr>
        <p:txBody>
          <a:bodyPr wrap="square" lIns="0" tIns="0" rIns="0" bIns="0" rtlCol="0" anchor="ctr">
            <a:normAutofit/>
          </a:bodyPr>
          <a:lstStyle/>
          <a:p>
            <a:pPr algn="l" indent="0" marL="0">
              <a:lnSpc>
                <a:spcPct val="100000"/>
              </a:lnSpc>
              <a:buNone/>
            </a:pPr>
            <a:r>
              <a:rPr lang="en-US" sz="1320" b="1" dirty="0">
                <a:solidFill>
                  <a:srgbClr val="202A40"/>
                </a:solidFill>
                <a:latin typeface="Inter" pitchFamily="34" charset="0"/>
                <a:ea typeface="Inter" pitchFamily="34" charset="-122"/>
                <a:cs typeface="Inter" pitchFamily="34" charset="-120"/>
              </a:rPr>
              <a:t>Sector cap</a:t>
            </a:r>
            <a:endParaRPr lang="en-US" sz="1320" dirty="0"/>
          </a:p>
        </p:txBody>
      </p:sp>
      <p:sp>
        <p:nvSpPr>
          <p:cNvPr id="17" name="Text 15"/>
          <p:cNvSpPr txBox="1"/>
          <p:nvPr/>
        </p:nvSpPr>
        <p:spPr>
          <a:xfrm>
            <a:off x="8842248" y="2871216"/>
            <a:ext cx="233172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6D4AFF"/>
                </a:solidFill>
                <a:latin typeface="Inter" pitchFamily="34" charset="0"/>
                <a:ea typeface="Inter" pitchFamily="34" charset="-122"/>
                <a:cs typeface="Inter" pitchFamily="34" charset="-120"/>
              </a:rPr>
              <a:t>nₛ ≤ 2</a:t>
            </a:r>
            <a:endParaRPr lang="en-US" sz="1700" dirty="0"/>
          </a:p>
        </p:txBody>
      </p:sp>
      <p:sp>
        <p:nvSpPr>
          <p:cNvPr id="18" name="Text 16"/>
          <p:cNvSpPr txBox="1"/>
          <p:nvPr/>
        </p:nvSpPr>
        <p:spPr>
          <a:xfrm>
            <a:off x="6565392" y="3264408"/>
            <a:ext cx="4526280" cy="22860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Penalty terms discourage invalid selections.</a:t>
            </a:r>
            <a:endParaRPr lang="en-US" sz="940" dirty="0"/>
          </a:p>
        </p:txBody>
      </p:sp>
      <p:sp>
        <p:nvSpPr>
          <p:cNvPr id="19" name="Text 17"/>
          <p:cNvSpPr txBox="1"/>
          <p:nvPr/>
        </p:nvSpPr>
        <p:spPr>
          <a:xfrm>
            <a:off x="621792" y="4142232"/>
            <a:ext cx="2423160" cy="201168"/>
          </a:xfrm>
          <a:prstGeom prst="rect">
            <a:avLst/>
          </a:prstGeom>
          <a:noFill/>
          <a:ln/>
        </p:spPr>
        <p:txBody>
          <a:bodyPr wrap="square" lIns="0" tIns="0" rIns="0" bIns="0" rtlCol="0" anchor="ctr">
            <a:normAutofit/>
          </a:bodyPr>
          <a:lstStyle/>
          <a:p>
            <a:pPr algn="l" indent="0" marL="0">
              <a:lnSpc>
                <a:spcPct val="100000"/>
              </a:lnSpc>
              <a:buNone/>
            </a:pPr>
            <a:r>
              <a:rPr lang="en-US" sz="900" b="1" spc="130" kern="0" dirty="0">
                <a:solidFill>
                  <a:srgbClr val="8B98AE"/>
                </a:solidFill>
                <a:latin typeface="Inter" pitchFamily="34" charset="0"/>
                <a:ea typeface="Inter" pitchFamily="34" charset="-122"/>
                <a:cs typeface="Inter" pitchFamily="34" charset="-120"/>
              </a:rPr>
              <a:t>THE EXPERIMENT PIPELINE</a:t>
            </a:r>
            <a:endParaRPr lang="en-US" sz="900" dirty="0"/>
          </a:p>
        </p:txBody>
      </p:sp>
      <p:sp>
        <p:nvSpPr>
          <p:cNvPr id="20" name="Shape 18"/>
          <p:cNvSpPr/>
          <p:nvPr/>
        </p:nvSpPr>
        <p:spPr>
          <a:xfrm>
            <a:off x="576072" y="4507992"/>
            <a:ext cx="1938528" cy="1124712"/>
          </a:xfrm>
          <a:prstGeom prst="roundRect">
            <a:avLst>
              <a:gd name="adj" fmla="val 11382"/>
            </a:avLst>
          </a:prstGeom>
          <a:solidFill>
            <a:srgbClr val="FFFFFF"/>
          </a:solidFill>
          <a:ln w="10160">
            <a:solidFill>
              <a:srgbClr val="DEE5F0"/>
            </a:solidFill>
            <a:prstDash val="solid"/>
          </a:ln>
        </p:spPr>
        <p:txBody>
          <a:bodyPr/>
          <a:p/>
        </p:txBody>
      </p:sp>
      <p:sp>
        <p:nvSpPr>
          <p:cNvPr id="21" name="Shape 19"/>
          <p:cNvSpPr/>
          <p:nvPr/>
        </p:nvSpPr>
        <p:spPr>
          <a:xfrm>
            <a:off x="713232" y="4690872"/>
            <a:ext cx="292608" cy="292608"/>
          </a:xfrm>
          <a:prstGeom prst="ellipse">
            <a:avLst/>
          </a:prstGeom>
          <a:solidFill>
            <a:srgbClr val="14A8B5"/>
          </a:solidFill>
          <a:ln w="12700">
            <a:solidFill>
              <a:srgbClr val="14A8B5"/>
            </a:solidFill>
            <a:prstDash val="solid"/>
          </a:ln>
        </p:spPr>
        <p:txBody>
          <a:bodyPr/>
          <a:p/>
        </p:txBody>
      </p:sp>
      <p:sp>
        <p:nvSpPr>
          <p:cNvPr id="22" name="Text 20"/>
          <p:cNvSpPr txBox="1"/>
          <p:nvPr/>
        </p:nvSpPr>
        <p:spPr>
          <a:xfrm>
            <a:off x="713232" y="4700016"/>
            <a:ext cx="292608" cy="274320"/>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1</a:t>
            </a:r>
            <a:endParaRPr lang="en-US" sz="1000" dirty="0"/>
          </a:p>
        </p:txBody>
      </p:sp>
      <p:sp>
        <p:nvSpPr>
          <p:cNvPr id="23" name="Text 21"/>
          <p:cNvSpPr txBox="1"/>
          <p:nvPr/>
        </p:nvSpPr>
        <p:spPr>
          <a:xfrm>
            <a:off x="1097280" y="4663440"/>
            <a:ext cx="128016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Build data</a:t>
            </a:r>
            <a:endParaRPr lang="en-US" sz="1200" dirty="0"/>
          </a:p>
        </p:txBody>
      </p:sp>
      <p:sp>
        <p:nvSpPr>
          <p:cNvPr id="24" name="Text 22"/>
          <p:cNvSpPr txBox="1"/>
          <p:nvPr/>
        </p:nvSpPr>
        <p:spPr>
          <a:xfrm>
            <a:off x="740664" y="5074920"/>
            <a:ext cx="1645920" cy="237744"/>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Synthetic returns + risk</a:t>
            </a:r>
            <a:endParaRPr lang="en-US" sz="940" dirty="0"/>
          </a:p>
        </p:txBody>
      </p:sp>
      <p:sp>
        <p:nvSpPr>
          <p:cNvPr id="25" name="Shape 23"/>
          <p:cNvSpPr/>
          <p:nvPr/>
        </p:nvSpPr>
        <p:spPr>
          <a:xfrm>
            <a:off x="2542032" y="5056632"/>
            <a:ext cx="265176" cy="0"/>
          </a:xfrm>
          <a:prstGeom prst="line">
            <a:avLst/>
          </a:prstGeom>
          <a:noFill/>
          <a:ln w="17780">
            <a:solidFill>
              <a:srgbClr val="B7C3D7"/>
            </a:solidFill>
            <a:prstDash val="solid"/>
            <a:headEnd type="none"/>
            <a:tailEnd type="none"/>
          </a:ln>
        </p:spPr>
        <p:txBody>
          <a:bodyPr/>
          <a:p/>
        </p:txBody>
      </p:sp>
      <p:sp>
        <p:nvSpPr>
          <p:cNvPr id="26" name="Shape 24"/>
          <p:cNvSpPr/>
          <p:nvPr/>
        </p:nvSpPr>
        <p:spPr>
          <a:xfrm>
            <a:off x="2880360" y="4507992"/>
            <a:ext cx="1938528" cy="1124712"/>
          </a:xfrm>
          <a:prstGeom prst="roundRect">
            <a:avLst>
              <a:gd name="adj" fmla="val 11382"/>
            </a:avLst>
          </a:prstGeom>
          <a:solidFill>
            <a:srgbClr val="FFFFFF"/>
          </a:solidFill>
          <a:ln w="10160">
            <a:solidFill>
              <a:srgbClr val="DEE5F0"/>
            </a:solidFill>
            <a:prstDash val="solid"/>
          </a:ln>
        </p:spPr>
        <p:txBody>
          <a:bodyPr/>
          <a:p/>
        </p:txBody>
      </p:sp>
      <p:sp>
        <p:nvSpPr>
          <p:cNvPr id="27" name="Shape 25"/>
          <p:cNvSpPr/>
          <p:nvPr/>
        </p:nvSpPr>
        <p:spPr>
          <a:xfrm>
            <a:off x="3017520" y="4690872"/>
            <a:ext cx="292608" cy="292608"/>
          </a:xfrm>
          <a:prstGeom prst="ellipse">
            <a:avLst/>
          </a:prstGeom>
          <a:solidFill>
            <a:srgbClr val="6D4AFF"/>
          </a:solidFill>
          <a:ln w="12700">
            <a:solidFill>
              <a:srgbClr val="6D4AFF"/>
            </a:solidFill>
            <a:prstDash val="solid"/>
          </a:ln>
        </p:spPr>
        <p:txBody>
          <a:bodyPr/>
          <a:p/>
        </p:txBody>
      </p:sp>
      <p:sp>
        <p:nvSpPr>
          <p:cNvPr id="28" name="Text 26"/>
          <p:cNvSpPr txBox="1"/>
          <p:nvPr/>
        </p:nvSpPr>
        <p:spPr>
          <a:xfrm>
            <a:off x="3017520" y="4700016"/>
            <a:ext cx="292608" cy="274320"/>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2</a:t>
            </a:r>
            <a:endParaRPr lang="en-US" sz="1000" dirty="0"/>
          </a:p>
        </p:txBody>
      </p:sp>
      <p:sp>
        <p:nvSpPr>
          <p:cNvPr id="29" name="Text 27"/>
          <p:cNvSpPr txBox="1"/>
          <p:nvPr/>
        </p:nvSpPr>
        <p:spPr>
          <a:xfrm>
            <a:off x="3401568" y="4663440"/>
            <a:ext cx="128016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Encode cost</a:t>
            </a:r>
            <a:endParaRPr lang="en-US" sz="1200" dirty="0"/>
          </a:p>
        </p:txBody>
      </p:sp>
      <p:sp>
        <p:nvSpPr>
          <p:cNvPr id="30" name="Text 28"/>
          <p:cNvSpPr txBox="1"/>
          <p:nvPr/>
        </p:nvSpPr>
        <p:spPr>
          <a:xfrm>
            <a:off x="3044952" y="5074920"/>
            <a:ext cx="1645920" cy="237744"/>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QUBO / Hamiltonian</a:t>
            </a:r>
            <a:endParaRPr lang="en-US" sz="940" dirty="0"/>
          </a:p>
        </p:txBody>
      </p:sp>
      <p:sp>
        <p:nvSpPr>
          <p:cNvPr id="31" name="Shape 29"/>
          <p:cNvSpPr/>
          <p:nvPr/>
        </p:nvSpPr>
        <p:spPr>
          <a:xfrm>
            <a:off x="4846320" y="5056632"/>
            <a:ext cx="274320" cy="0"/>
          </a:xfrm>
          <a:prstGeom prst="line">
            <a:avLst/>
          </a:prstGeom>
          <a:noFill/>
          <a:ln w="17780">
            <a:solidFill>
              <a:srgbClr val="B7C3D7"/>
            </a:solidFill>
            <a:prstDash val="solid"/>
            <a:headEnd type="none"/>
            <a:tailEnd type="none"/>
          </a:ln>
        </p:spPr>
        <p:txBody>
          <a:bodyPr/>
          <a:p/>
        </p:txBody>
      </p:sp>
      <p:sp>
        <p:nvSpPr>
          <p:cNvPr id="32" name="Shape 30"/>
          <p:cNvSpPr/>
          <p:nvPr/>
        </p:nvSpPr>
        <p:spPr>
          <a:xfrm>
            <a:off x="5193792" y="4507992"/>
            <a:ext cx="1938528" cy="1124712"/>
          </a:xfrm>
          <a:prstGeom prst="roundRect">
            <a:avLst>
              <a:gd name="adj" fmla="val 11382"/>
            </a:avLst>
          </a:prstGeom>
          <a:solidFill>
            <a:srgbClr val="FFFFFF"/>
          </a:solidFill>
          <a:ln w="10160">
            <a:solidFill>
              <a:srgbClr val="DEE5F0"/>
            </a:solidFill>
            <a:prstDash val="solid"/>
          </a:ln>
        </p:spPr>
        <p:txBody>
          <a:bodyPr/>
          <a:p/>
        </p:txBody>
      </p:sp>
      <p:sp>
        <p:nvSpPr>
          <p:cNvPr id="33" name="Shape 31"/>
          <p:cNvSpPr/>
          <p:nvPr/>
        </p:nvSpPr>
        <p:spPr>
          <a:xfrm>
            <a:off x="5330952" y="4690872"/>
            <a:ext cx="292608" cy="292608"/>
          </a:xfrm>
          <a:prstGeom prst="ellipse">
            <a:avLst/>
          </a:prstGeom>
          <a:solidFill>
            <a:srgbClr val="3B72E8"/>
          </a:solidFill>
          <a:ln w="12700">
            <a:solidFill>
              <a:srgbClr val="3B72E8"/>
            </a:solidFill>
            <a:prstDash val="solid"/>
          </a:ln>
        </p:spPr>
        <p:txBody>
          <a:bodyPr/>
          <a:p/>
        </p:txBody>
      </p:sp>
      <p:sp>
        <p:nvSpPr>
          <p:cNvPr id="34" name="Text 32"/>
          <p:cNvSpPr txBox="1"/>
          <p:nvPr/>
        </p:nvSpPr>
        <p:spPr>
          <a:xfrm>
            <a:off x="5330952" y="4700016"/>
            <a:ext cx="292608" cy="274320"/>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3</a:t>
            </a:r>
            <a:endParaRPr lang="en-US" sz="1000" dirty="0"/>
          </a:p>
        </p:txBody>
      </p:sp>
      <p:sp>
        <p:nvSpPr>
          <p:cNvPr id="35" name="Text 33"/>
          <p:cNvSpPr txBox="1"/>
          <p:nvPr/>
        </p:nvSpPr>
        <p:spPr>
          <a:xfrm>
            <a:off x="5715000" y="4663440"/>
            <a:ext cx="128016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Run circuit</a:t>
            </a:r>
            <a:endParaRPr lang="en-US" sz="1200" dirty="0"/>
          </a:p>
        </p:txBody>
      </p:sp>
      <p:sp>
        <p:nvSpPr>
          <p:cNvPr id="36" name="Text 34"/>
          <p:cNvSpPr txBox="1"/>
          <p:nvPr/>
        </p:nvSpPr>
        <p:spPr>
          <a:xfrm>
            <a:off x="5358384" y="5074920"/>
            <a:ext cx="1645920" cy="237744"/>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QAOA or feature map</a:t>
            </a:r>
            <a:endParaRPr lang="en-US" sz="940" dirty="0"/>
          </a:p>
        </p:txBody>
      </p:sp>
      <p:sp>
        <p:nvSpPr>
          <p:cNvPr id="37" name="Shape 35"/>
          <p:cNvSpPr/>
          <p:nvPr/>
        </p:nvSpPr>
        <p:spPr>
          <a:xfrm>
            <a:off x="7159752" y="5056632"/>
            <a:ext cx="265176" cy="0"/>
          </a:xfrm>
          <a:prstGeom prst="line">
            <a:avLst/>
          </a:prstGeom>
          <a:noFill/>
          <a:ln w="17780">
            <a:solidFill>
              <a:srgbClr val="B7C3D7"/>
            </a:solidFill>
            <a:prstDash val="solid"/>
            <a:headEnd type="none"/>
            <a:tailEnd type="none"/>
          </a:ln>
        </p:spPr>
        <p:txBody>
          <a:bodyPr/>
          <a:p/>
        </p:txBody>
      </p:sp>
      <p:sp>
        <p:nvSpPr>
          <p:cNvPr id="38" name="Shape 36"/>
          <p:cNvSpPr/>
          <p:nvPr/>
        </p:nvSpPr>
        <p:spPr>
          <a:xfrm>
            <a:off x="7498080" y="4507992"/>
            <a:ext cx="1938528" cy="1124712"/>
          </a:xfrm>
          <a:prstGeom prst="roundRect">
            <a:avLst>
              <a:gd name="adj" fmla="val 11382"/>
            </a:avLst>
          </a:prstGeom>
          <a:solidFill>
            <a:srgbClr val="FFFFFF"/>
          </a:solidFill>
          <a:ln w="10160">
            <a:solidFill>
              <a:srgbClr val="DEE5F0"/>
            </a:solidFill>
            <a:prstDash val="solid"/>
          </a:ln>
        </p:spPr>
        <p:txBody>
          <a:bodyPr/>
          <a:p/>
        </p:txBody>
      </p:sp>
      <p:sp>
        <p:nvSpPr>
          <p:cNvPr id="39" name="Shape 37"/>
          <p:cNvSpPr/>
          <p:nvPr/>
        </p:nvSpPr>
        <p:spPr>
          <a:xfrm>
            <a:off x="7635240" y="4690872"/>
            <a:ext cx="292608" cy="292608"/>
          </a:xfrm>
          <a:prstGeom prst="ellipse">
            <a:avLst/>
          </a:prstGeom>
          <a:solidFill>
            <a:srgbClr val="20B892"/>
          </a:solidFill>
          <a:ln w="12700">
            <a:solidFill>
              <a:srgbClr val="20B892"/>
            </a:solidFill>
            <a:prstDash val="solid"/>
          </a:ln>
        </p:spPr>
        <p:txBody>
          <a:bodyPr/>
          <a:p/>
        </p:txBody>
      </p:sp>
      <p:sp>
        <p:nvSpPr>
          <p:cNvPr id="40" name="Text 38"/>
          <p:cNvSpPr txBox="1"/>
          <p:nvPr/>
        </p:nvSpPr>
        <p:spPr>
          <a:xfrm>
            <a:off x="7635240" y="4700016"/>
            <a:ext cx="292608" cy="274320"/>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4</a:t>
            </a:r>
            <a:endParaRPr lang="en-US" sz="1000" dirty="0"/>
          </a:p>
        </p:txBody>
      </p:sp>
      <p:sp>
        <p:nvSpPr>
          <p:cNvPr id="41" name="Text 39"/>
          <p:cNvSpPr txBox="1"/>
          <p:nvPr/>
        </p:nvSpPr>
        <p:spPr>
          <a:xfrm>
            <a:off x="8019288" y="4663440"/>
            <a:ext cx="128016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Measure</a:t>
            </a:r>
            <a:endParaRPr lang="en-US" sz="1200" dirty="0"/>
          </a:p>
        </p:txBody>
      </p:sp>
      <p:sp>
        <p:nvSpPr>
          <p:cNvPr id="42" name="Text 40"/>
          <p:cNvSpPr txBox="1"/>
          <p:nvPr/>
        </p:nvSpPr>
        <p:spPr>
          <a:xfrm>
            <a:off x="7662672" y="5074920"/>
            <a:ext cx="1645920" cy="237744"/>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Samples / kernel values</a:t>
            </a:r>
            <a:endParaRPr lang="en-US" sz="940" dirty="0"/>
          </a:p>
        </p:txBody>
      </p:sp>
      <p:sp>
        <p:nvSpPr>
          <p:cNvPr id="43" name="Shape 41"/>
          <p:cNvSpPr/>
          <p:nvPr/>
        </p:nvSpPr>
        <p:spPr>
          <a:xfrm>
            <a:off x="9464040" y="5056632"/>
            <a:ext cx="265176" cy="0"/>
          </a:xfrm>
          <a:prstGeom prst="line">
            <a:avLst/>
          </a:prstGeom>
          <a:noFill/>
          <a:ln w="17780">
            <a:solidFill>
              <a:srgbClr val="B7C3D7"/>
            </a:solidFill>
            <a:prstDash val="solid"/>
            <a:headEnd type="none"/>
            <a:tailEnd type="none"/>
          </a:ln>
        </p:spPr>
        <p:txBody>
          <a:bodyPr/>
          <a:p/>
        </p:txBody>
      </p:sp>
      <p:sp>
        <p:nvSpPr>
          <p:cNvPr id="44" name="Shape 42"/>
          <p:cNvSpPr/>
          <p:nvPr/>
        </p:nvSpPr>
        <p:spPr>
          <a:xfrm>
            <a:off x="9802368" y="4507992"/>
            <a:ext cx="1874520" cy="1124712"/>
          </a:xfrm>
          <a:prstGeom prst="roundRect">
            <a:avLst>
              <a:gd name="adj" fmla="val 11382"/>
            </a:avLst>
          </a:prstGeom>
          <a:solidFill>
            <a:srgbClr val="FFFFFF"/>
          </a:solidFill>
          <a:ln w="10160">
            <a:solidFill>
              <a:srgbClr val="DEE5F0"/>
            </a:solidFill>
            <a:prstDash val="solid"/>
          </a:ln>
        </p:spPr>
        <p:txBody>
          <a:bodyPr/>
          <a:p/>
        </p:txBody>
      </p:sp>
      <p:sp>
        <p:nvSpPr>
          <p:cNvPr id="45" name="Shape 43"/>
          <p:cNvSpPr/>
          <p:nvPr/>
        </p:nvSpPr>
        <p:spPr>
          <a:xfrm>
            <a:off x="9939528" y="4690872"/>
            <a:ext cx="292608" cy="292608"/>
          </a:xfrm>
          <a:prstGeom prst="ellipse">
            <a:avLst/>
          </a:prstGeom>
          <a:solidFill>
            <a:srgbClr val="E96E5B"/>
          </a:solidFill>
          <a:ln w="12700">
            <a:solidFill>
              <a:srgbClr val="E96E5B"/>
            </a:solidFill>
            <a:prstDash val="solid"/>
          </a:ln>
        </p:spPr>
        <p:txBody>
          <a:bodyPr/>
          <a:p/>
        </p:txBody>
      </p:sp>
      <p:sp>
        <p:nvSpPr>
          <p:cNvPr id="46" name="Text 44"/>
          <p:cNvSpPr txBox="1"/>
          <p:nvPr/>
        </p:nvSpPr>
        <p:spPr>
          <a:xfrm>
            <a:off x="9939528" y="4700016"/>
            <a:ext cx="292608" cy="274320"/>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5</a:t>
            </a:r>
            <a:endParaRPr lang="en-US" sz="1000" dirty="0"/>
          </a:p>
        </p:txBody>
      </p:sp>
      <p:sp>
        <p:nvSpPr>
          <p:cNvPr id="47" name="Text 45"/>
          <p:cNvSpPr txBox="1"/>
          <p:nvPr/>
        </p:nvSpPr>
        <p:spPr>
          <a:xfrm>
            <a:off x="10323576" y="4663440"/>
            <a:ext cx="1216152"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Validate</a:t>
            </a:r>
            <a:endParaRPr lang="en-US" sz="1200" dirty="0"/>
          </a:p>
        </p:txBody>
      </p:sp>
      <p:sp>
        <p:nvSpPr>
          <p:cNvPr id="48" name="Text 46"/>
          <p:cNvSpPr txBox="1"/>
          <p:nvPr/>
        </p:nvSpPr>
        <p:spPr>
          <a:xfrm>
            <a:off x="9966960" y="5074920"/>
            <a:ext cx="1581912" cy="237744"/>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Compare to classical</a:t>
            </a:r>
            <a:endParaRPr lang="en-US" sz="940" dirty="0"/>
          </a:p>
        </p:txBody>
      </p:sp>
      <p:sp>
        <p:nvSpPr>
          <p:cNvPr id="49" name="Text 47"/>
          <p:cNvSpPr txBox="1"/>
          <p:nvPr/>
        </p:nvSpPr>
        <p:spPr>
          <a:xfrm>
            <a:off x="621792" y="5925312"/>
            <a:ext cx="10881360" cy="210312"/>
          </a:xfrm>
          <a:prstGeom prst="rect">
            <a:avLst/>
          </a:prstGeom>
          <a:noFill/>
          <a:ln/>
        </p:spPr>
        <p:txBody>
          <a:bodyPr wrap="square" lIns="0" tIns="0" rIns="0" bIns="0" rtlCol="0" anchor="ctr">
            <a:normAutofit/>
          </a:bodyPr>
          <a:lstStyle/>
          <a:p>
            <a:pPr algn="l" indent="0" marL="0">
              <a:lnSpc>
                <a:spcPct val="100000"/>
              </a:lnSpc>
              <a:buNone/>
            </a:pPr>
            <a:r>
              <a:rPr lang="en-US" sz="970" i="1" dirty="0">
                <a:solidFill>
                  <a:srgbClr val="5D6B84"/>
                </a:solidFill>
                <a:latin typeface="Inter" pitchFamily="34" charset="0"/>
                <a:ea typeface="Inter" pitchFamily="34" charset="-122"/>
                <a:cs typeface="Inter" pitchFamily="34" charset="-120"/>
              </a:rPr>
              <a:t>All datasets in this project are synthetic; results are methodological demonstrations, not investment advice.</a:t>
            </a:r>
            <a:endParaRPr lang="en-US" sz="97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84048"/>
            <a:ext cx="141732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3075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LEVEL 1 · BEGINNER</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A small search space makes validation exact</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Six stocks, select three: enumerate all 20 candidates and use that optimum as the truth check.</a:t>
            </a:r>
            <a:endParaRPr lang="en-US" sz="1220" dirty="0"/>
          </a:p>
        </p:txBody>
      </p:sp>
      <p:sp>
        <p:nvSpPr>
          <p:cNvPr id="6" name="Shape 4"/>
          <p:cNvSpPr/>
          <p:nvPr/>
        </p:nvSpPr>
        <p:spPr>
          <a:xfrm>
            <a:off x="566928" y="1847088"/>
            <a:ext cx="3749040" cy="3611880"/>
          </a:xfrm>
          <a:prstGeom prst="roundRect">
            <a:avLst>
              <a:gd name="adj" fmla="val 3544"/>
            </a:avLst>
          </a:prstGeom>
          <a:solidFill>
            <a:srgbClr val="10172A"/>
          </a:solidFill>
          <a:ln w="10160">
            <a:solidFill>
              <a:srgbClr val="10172A"/>
            </a:solidFill>
            <a:prstDash val="solid"/>
          </a:ln>
        </p:spPr>
        <p:txBody>
          <a:bodyPr/>
          <a:p/>
        </p:txBody>
      </p:sp>
      <p:sp>
        <p:nvSpPr>
          <p:cNvPr id="7" name="Shape 5"/>
          <p:cNvSpPr/>
          <p:nvPr/>
        </p:nvSpPr>
        <p:spPr>
          <a:xfrm>
            <a:off x="822960" y="2084832"/>
            <a:ext cx="1783080" cy="274320"/>
          </a:xfrm>
          <a:prstGeom prst="roundRect">
            <a:avLst>
              <a:gd name="adj" fmla="val 50000"/>
            </a:avLst>
          </a:prstGeom>
          <a:solidFill>
            <a:srgbClr val="2B3551"/>
          </a:solidFill>
          <a:ln w="12700">
            <a:solidFill>
              <a:srgbClr val="2B3551">
                <a:alpha val="0"/>
              </a:srgbClr>
            </a:solidFill>
            <a:prstDash val="solid"/>
          </a:ln>
        </p:spPr>
        <p:txBody>
          <a:bodyPr/>
          <a:p/>
        </p:txBody>
      </p:sp>
      <p:sp>
        <p:nvSpPr>
          <p:cNvPr id="8" name="Text 6"/>
          <p:cNvSpPr txBox="1"/>
          <p:nvPr/>
        </p:nvSpPr>
        <p:spPr>
          <a:xfrm>
            <a:off x="877824" y="2093976"/>
            <a:ext cx="167335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E5E9FF"/>
                </a:solidFill>
                <a:latin typeface="Inter" pitchFamily="34" charset="0"/>
                <a:ea typeface="Inter" pitchFamily="34" charset="-122"/>
                <a:cs typeface="Inter" pitchFamily="34" charset="-120"/>
              </a:rPr>
              <a:t>CLASSICAL REFERENCE</a:t>
            </a:r>
            <a:endParaRPr lang="en-US" sz="850" dirty="0"/>
          </a:p>
        </p:txBody>
      </p:sp>
      <p:sp>
        <p:nvSpPr>
          <p:cNvPr id="9" name="Text 7"/>
          <p:cNvSpPr txBox="1"/>
          <p:nvPr/>
        </p:nvSpPr>
        <p:spPr>
          <a:xfrm>
            <a:off x="822960" y="2670048"/>
            <a:ext cx="3246120" cy="640080"/>
          </a:xfrm>
          <a:prstGeom prst="rect">
            <a:avLst/>
          </a:prstGeom>
          <a:noFill/>
          <a:ln/>
        </p:spPr>
        <p:txBody>
          <a:bodyPr wrap="square" lIns="0" tIns="0" rIns="0" bIns="0" rtlCol="0" anchor="t">
            <a:normAutofit/>
          </a:bodyPr>
          <a:lstStyle/>
          <a:p>
            <a:pPr algn="l" indent="0" marL="0">
              <a:lnSpc>
                <a:spcPct val="100000"/>
              </a:lnSpc>
              <a:buNone/>
            </a:pPr>
            <a:r>
              <a:rPr lang="en-US" sz="1900" b="1" dirty="0">
                <a:solidFill>
                  <a:srgbClr val="FFFFFF"/>
                </a:solidFill>
                <a:latin typeface="Inter" pitchFamily="34" charset="0"/>
                <a:ea typeface="Inter" pitchFamily="34" charset="-122"/>
                <a:cs typeface="Inter" pitchFamily="34" charset="-120"/>
              </a:rPr>
              <a:t>Stock 2  ·  Stock 3  ·  Stock 6</a:t>
            </a:r>
            <a:endParaRPr lang="en-US" sz="1900" dirty="0"/>
          </a:p>
        </p:txBody>
      </p:sp>
      <p:sp>
        <p:nvSpPr>
          <p:cNvPr id="10" name="Text 8"/>
          <p:cNvSpPr txBox="1"/>
          <p:nvPr/>
        </p:nvSpPr>
        <p:spPr>
          <a:xfrm>
            <a:off x="841248" y="3767328"/>
            <a:ext cx="2834640" cy="228600"/>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B9C7E1"/>
                </a:solidFill>
                <a:latin typeface="Inter" pitchFamily="34" charset="0"/>
                <a:ea typeface="Inter" pitchFamily="34" charset="-122"/>
                <a:cs typeface="Inter" pitchFamily="34" charset="-120"/>
              </a:rPr>
              <a:t>Minimum objective cost</a:t>
            </a:r>
            <a:endParaRPr lang="en-US" sz="1000" dirty="0"/>
          </a:p>
        </p:txBody>
      </p:sp>
      <p:sp>
        <p:nvSpPr>
          <p:cNvPr id="11" name="Text 9"/>
          <p:cNvSpPr txBox="1"/>
          <p:nvPr/>
        </p:nvSpPr>
        <p:spPr>
          <a:xfrm>
            <a:off x="822960" y="4059936"/>
            <a:ext cx="2926080" cy="566928"/>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53D7CD"/>
                </a:solidFill>
                <a:latin typeface="Inter" pitchFamily="34" charset="0"/>
                <a:ea typeface="Inter" pitchFamily="34" charset="-122"/>
                <a:cs typeface="Inter" pitchFamily="34" charset="-120"/>
              </a:rPr>
              <a:t>−0.503015</a:t>
            </a:r>
            <a:endParaRPr lang="en-US" sz="2900" dirty="0"/>
          </a:p>
        </p:txBody>
      </p:sp>
      <p:sp>
        <p:nvSpPr>
          <p:cNvPr id="12" name="Text 10"/>
          <p:cNvSpPr txBox="1"/>
          <p:nvPr/>
        </p:nvSpPr>
        <p:spPr>
          <a:xfrm>
            <a:off x="841248" y="4956048"/>
            <a:ext cx="3154680" cy="256032"/>
          </a:xfrm>
          <a:prstGeom prst="rect">
            <a:avLst/>
          </a:prstGeom>
          <a:noFill/>
          <a:ln/>
        </p:spPr>
        <p:txBody>
          <a:bodyPr wrap="square" lIns="0" tIns="0" rIns="0" bIns="0" rtlCol="0" anchor="ctr">
            <a:normAutofit/>
          </a:bodyPr>
          <a:lstStyle/>
          <a:p>
            <a:pPr algn="l" indent="0" marL="0">
              <a:lnSpc>
                <a:spcPct val="100000"/>
              </a:lnSpc>
              <a:buNone/>
            </a:pPr>
            <a:r>
              <a:rPr lang="en-US" sz="980" dirty="0">
                <a:solidFill>
                  <a:srgbClr val="B9C7E1"/>
                </a:solidFill>
                <a:latin typeface="Inter" pitchFamily="34" charset="0"/>
                <a:ea typeface="Inter" pitchFamily="34" charset="-122"/>
                <a:cs typeface="Inter" pitchFamily="34" charset="-120"/>
              </a:rPr>
              <a:t>20 total portfolios  ·  exact exhaustive search</a:t>
            </a:r>
            <a:endParaRPr lang="en-US" sz="980" dirty="0"/>
          </a:p>
        </p:txBody>
      </p:sp>
      <p:sp>
        <p:nvSpPr>
          <p:cNvPr id="13" name="Shape 11"/>
          <p:cNvSpPr/>
          <p:nvPr/>
        </p:nvSpPr>
        <p:spPr>
          <a:xfrm>
            <a:off x="4553712" y="1847088"/>
            <a:ext cx="7040880" cy="1975104"/>
          </a:xfrm>
          <a:prstGeom prst="roundRect">
            <a:avLst>
              <a:gd name="adj" fmla="val 6481"/>
            </a:avLst>
          </a:prstGeom>
          <a:solidFill>
            <a:srgbClr val="FFFFFF"/>
          </a:solidFill>
          <a:ln w="10160">
            <a:solidFill>
              <a:srgbClr val="DEE5F0"/>
            </a:solidFill>
            <a:prstDash val="solid"/>
          </a:ln>
        </p:spPr>
        <p:txBody>
          <a:bodyPr/>
          <a:p/>
        </p:txBody>
      </p:sp>
      <p:sp>
        <p:nvSpPr>
          <p:cNvPr id="14" name="Text 12"/>
          <p:cNvSpPr txBox="1"/>
          <p:nvPr/>
        </p:nvSpPr>
        <p:spPr>
          <a:xfrm>
            <a:off x="4828032" y="2066544"/>
            <a:ext cx="2926080" cy="219456"/>
          </a:xfrm>
          <a:prstGeom prst="rect">
            <a:avLst/>
          </a:prstGeom>
          <a:noFill/>
          <a:ln/>
        </p:spPr>
        <p:txBody>
          <a:bodyPr wrap="square" lIns="0" tIns="0" rIns="0" bIns="0" rtlCol="0" anchor="ctr">
            <a:normAutofit/>
          </a:bodyPr>
          <a:lstStyle/>
          <a:p>
            <a:pPr algn="l" indent="0" marL="0">
              <a:lnSpc>
                <a:spcPct val="100000"/>
              </a:lnSpc>
              <a:buNone/>
            </a:pPr>
            <a:r>
              <a:rPr lang="en-US" sz="900" b="1" spc="100" kern="0" dirty="0">
                <a:solidFill>
                  <a:srgbClr val="8B98AE"/>
                </a:solidFill>
                <a:latin typeface="Inter" pitchFamily="34" charset="0"/>
                <a:ea typeface="Inter" pitchFamily="34" charset="-122"/>
                <a:cs typeface="Inter" pitchFamily="34" charset="-120"/>
              </a:rPr>
              <a:t>VALID PORTFOLIO SAMPLES</a:t>
            </a:r>
            <a:endParaRPr lang="en-US" sz="900" dirty="0"/>
          </a:p>
        </p:txBody>
      </p:sp>
      <p:sp>
        <p:nvSpPr>
          <p:cNvPr id="15" name="Text 13"/>
          <p:cNvSpPr txBox="1"/>
          <p:nvPr/>
        </p:nvSpPr>
        <p:spPr>
          <a:xfrm>
            <a:off x="4846320" y="2450592"/>
            <a:ext cx="2160270"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202A40"/>
                </a:solidFill>
                <a:latin typeface="Inter" pitchFamily="34" charset="0"/>
                <a:ea typeface="Inter" pitchFamily="34" charset="-122"/>
                <a:cs typeface="Inter" pitchFamily="34" charset="-120"/>
              </a:rPr>
              <a:t>SIMULATOR</a:t>
            </a:r>
            <a:endParaRPr lang="en-US" sz="1000" dirty="0"/>
          </a:p>
        </p:txBody>
      </p:sp>
      <p:sp>
        <p:nvSpPr>
          <p:cNvPr id="16" name="Text 14"/>
          <p:cNvSpPr txBox="1"/>
          <p:nvPr/>
        </p:nvSpPr>
        <p:spPr>
          <a:xfrm>
            <a:off x="8981694" y="2450592"/>
            <a:ext cx="2036826" cy="201168"/>
          </a:xfrm>
          <a:prstGeom prst="rect">
            <a:avLst/>
          </a:prstGeom>
          <a:noFill/>
          <a:ln/>
        </p:spPr>
        <p:txBody>
          <a:bodyPr wrap="square" lIns="0" tIns="0" rIns="0" bIns="0" rtlCol="0" anchor="ctr">
            <a:normAutofit/>
          </a:bodyPr>
          <a:lstStyle/>
          <a:p>
            <a:pPr algn="r" indent="0" marL="0">
              <a:lnSpc>
                <a:spcPct val="100000"/>
              </a:lnSpc>
              <a:buNone/>
            </a:pPr>
            <a:r>
              <a:rPr lang="en-US" sz="1000" b="1" dirty="0">
                <a:solidFill>
                  <a:srgbClr val="14A8B5"/>
                </a:solidFill>
                <a:latin typeface="Inter" pitchFamily="34" charset="0"/>
                <a:ea typeface="Inter" pitchFamily="34" charset="-122"/>
                <a:cs typeface="Inter" pitchFamily="34" charset="-120"/>
              </a:rPr>
              <a:t>67.94%  ·  2,783 / 4,096</a:t>
            </a:r>
            <a:endParaRPr lang="en-US" sz="1000" dirty="0"/>
          </a:p>
        </p:txBody>
      </p:sp>
      <p:sp>
        <p:nvSpPr>
          <p:cNvPr id="17" name="Shape 15"/>
          <p:cNvSpPr/>
          <p:nvPr/>
        </p:nvSpPr>
        <p:spPr>
          <a:xfrm>
            <a:off x="4846320" y="2715768"/>
            <a:ext cx="6172200" cy="146304"/>
          </a:xfrm>
          <a:prstGeom prst="roundRect">
            <a:avLst>
              <a:gd name="adj" fmla="val 50000"/>
            </a:avLst>
          </a:prstGeom>
          <a:solidFill>
            <a:srgbClr val="E7ECF4"/>
          </a:solidFill>
          <a:ln w="12700">
            <a:solidFill>
              <a:srgbClr val="E7ECF4">
                <a:alpha val="0"/>
              </a:srgbClr>
            </a:solidFill>
            <a:prstDash val="solid"/>
          </a:ln>
        </p:spPr>
        <p:txBody>
          <a:bodyPr/>
          <a:p/>
        </p:txBody>
      </p:sp>
      <p:sp>
        <p:nvSpPr>
          <p:cNvPr id="18" name="Shape 16"/>
          <p:cNvSpPr/>
          <p:nvPr/>
        </p:nvSpPr>
        <p:spPr>
          <a:xfrm>
            <a:off x="4846320" y="2715768"/>
            <a:ext cx="4193393" cy="146304"/>
          </a:xfrm>
          <a:prstGeom prst="roundRect">
            <a:avLst>
              <a:gd name="adj" fmla="val 50000"/>
            </a:avLst>
          </a:prstGeom>
          <a:solidFill>
            <a:srgbClr val="14A8B5"/>
          </a:solidFill>
          <a:ln w="12700">
            <a:solidFill>
              <a:srgbClr val="14A8B5">
                <a:alpha val="0"/>
              </a:srgbClr>
            </a:solidFill>
            <a:prstDash val="solid"/>
          </a:ln>
        </p:spPr>
        <p:txBody>
          <a:bodyPr/>
          <a:p/>
        </p:txBody>
      </p:sp>
      <p:sp>
        <p:nvSpPr>
          <p:cNvPr id="19" name="Text 17"/>
          <p:cNvSpPr txBox="1"/>
          <p:nvPr/>
        </p:nvSpPr>
        <p:spPr>
          <a:xfrm>
            <a:off x="4846320" y="3035808"/>
            <a:ext cx="2160270"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202A40"/>
                </a:solidFill>
                <a:latin typeface="Inter" pitchFamily="34" charset="0"/>
                <a:ea typeface="Inter" pitchFamily="34" charset="-122"/>
                <a:cs typeface="Inter" pitchFamily="34" charset="-120"/>
              </a:rPr>
              <a:t>IBM HARDWARE</a:t>
            </a:r>
            <a:endParaRPr lang="en-US" sz="1000" dirty="0"/>
          </a:p>
        </p:txBody>
      </p:sp>
      <p:sp>
        <p:nvSpPr>
          <p:cNvPr id="20" name="Text 18"/>
          <p:cNvSpPr txBox="1"/>
          <p:nvPr/>
        </p:nvSpPr>
        <p:spPr>
          <a:xfrm>
            <a:off x="8981694" y="3035808"/>
            <a:ext cx="2036826" cy="201168"/>
          </a:xfrm>
          <a:prstGeom prst="rect">
            <a:avLst/>
          </a:prstGeom>
          <a:noFill/>
          <a:ln/>
        </p:spPr>
        <p:txBody>
          <a:bodyPr wrap="square" lIns="0" tIns="0" rIns="0" bIns="0" rtlCol="0" anchor="ctr">
            <a:normAutofit/>
          </a:bodyPr>
          <a:lstStyle/>
          <a:p>
            <a:pPr algn="r" indent="0" marL="0">
              <a:lnSpc>
                <a:spcPct val="100000"/>
              </a:lnSpc>
              <a:buNone/>
            </a:pPr>
            <a:r>
              <a:rPr lang="en-US" sz="1000" b="1" dirty="0">
                <a:solidFill>
                  <a:srgbClr val="6D4AFF"/>
                </a:solidFill>
                <a:latin typeface="Inter" pitchFamily="34" charset="0"/>
                <a:ea typeface="Inter" pitchFamily="34" charset="-122"/>
                <a:cs typeface="Inter" pitchFamily="34" charset="-120"/>
              </a:rPr>
              <a:t>59.47%  ·  609 / 1,024</a:t>
            </a:r>
            <a:endParaRPr lang="en-US" sz="1000" dirty="0"/>
          </a:p>
        </p:txBody>
      </p:sp>
      <p:sp>
        <p:nvSpPr>
          <p:cNvPr id="21" name="Shape 19"/>
          <p:cNvSpPr/>
          <p:nvPr/>
        </p:nvSpPr>
        <p:spPr>
          <a:xfrm>
            <a:off x="4846320" y="3300984"/>
            <a:ext cx="6172200" cy="146304"/>
          </a:xfrm>
          <a:prstGeom prst="roundRect">
            <a:avLst>
              <a:gd name="adj" fmla="val 50000"/>
            </a:avLst>
          </a:prstGeom>
          <a:solidFill>
            <a:srgbClr val="E7ECF4"/>
          </a:solidFill>
          <a:ln w="12700">
            <a:solidFill>
              <a:srgbClr val="E7ECF4">
                <a:alpha val="0"/>
              </a:srgbClr>
            </a:solidFill>
            <a:prstDash val="solid"/>
          </a:ln>
        </p:spPr>
        <p:txBody>
          <a:bodyPr/>
          <a:p/>
        </p:txBody>
      </p:sp>
      <p:sp>
        <p:nvSpPr>
          <p:cNvPr id="22" name="Shape 20"/>
          <p:cNvSpPr/>
          <p:nvPr/>
        </p:nvSpPr>
        <p:spPr>
          <a:xfrm>
            <a:off x="4846320" y="3300984"/>
            <a:ext cx="3670607" cy="146304"/>
          </a:xfrm>
          <a:prstGeom prst="roundRect">
            <a:avLst>
              <a:gd name="adj" fmla="val 50000"/>
            </a:avLst>
          </a:prstGeom>
          <a:solidFill>
            <a:srgbClr val="6D4AFF"/>
          </a:solidFill>
          <a:ln w="12700">
            <a:solidFill>
              <a:srgbClr val="6D4AFF">
                <a:alpha val="0"/>
              </a:srgbClr>
            </a:solidFill>
            <a:prstDash val="solid"/>
          </a:ln>
        </p:spPr>
        <p:txBody>
          <a:bodyPr/>
          <a:p/>
        </p:txBody>
      </p:sp>
      <p:sp>
        <p:nvSpPr>
          <p:cNvPr id="23" name="Shape 21"/>
          <p:cNvSpPr/>
          <p:nvPr/>
        </p:nvSpPr>
        <p:spPr>
          <a:xfrm>
            <a:off x="4553712" y="4041648"/>
            <a:ext cx="3355848" cy="1417320"/>
          </a:xfrm>
          <a:prstGeom prst="roundRect">
            <a:avLst>
              <a:gd name="adj" fmla="val 9032"/>
            </a:avLst>
          </a:prstGeom>
          <a:solidFill>
            <a:srgbClr val="E2F8F9"/>
          </a:solidFill>
          <a:ln w="10160">
            <a:solidFill>
              <a:srgbClr val="D1F0F1"/>
            </a:solidFill>
            <a:prstDash val="solid"/>
          </a:ln>
        </p:spPr>
        <p:txBody>
          <a:bodyPr/>
          <a:p/>
        </p:txBody>
      </p:sp>
      <p:sp>
        <p:nvSpPr>
          <p:cNvPr id="24" name="Text 22"/>
          <p:cNvSpPr txBox="1"/>
          <p:nvPr/>
        </p:nvSpPr>
        <p:spPr>
          <a:xfrm>
            <a:off x="4773168" y="4279392"/>
            <a:ext cx="228600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02A40"/>
                </a:solidFill>
                <a:latin typeface="Inter" pitchFamily="34" charset="0"/>
                <a:ea typeface="Inter" pitchFamily="34" charset="-122"/>
                <a:cs typeface="Inter" pitchFamily="34" charset="-120"/>
              </a:rPr>
              <a:t>Hardware optimum</a:t>
            </a:r>
            <a:endParaRPr lang="en-US" sz="1100" dirty="0"/>
          </a:p>
        </p:txBody>
      </p:sp>
      <p:sp>
        <p:nvSpPr>
          <p:cNvPr id="25" name="Text 23"/>
          <p:cNvSpPr txBox="1"/>
          <p:nvPr/>
        </p:nvSpPr>
        <p:spPr>
          <a:xfrm>
            <a:off x="4773168" y="4599432"/>
            <a:ext cx="2194560" cy="292608"/>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14A8B5"/>
                </a:solidFill>
                <a:latin typeface="Inter" pitchFamily="34" charset="0"/>
                <a:ea typeface="Inter" pitchFamily="34" charset="-122"/>
                <a:cs typeface="Inter" pitchFamily="34" charset="-120"/>
              </a:rPr>
              <a:t>29 / 1,024 shots</a:t>
            </a:r>
            <a:endParaRPr lang="en-US" sz="1900" dirty="0"/>
          </a:p>
        </p:txBody>
      </p:sp>
      <p:sp>
        <p:nvSpPr>
          <p:cNvPr id="26" name="Text 24"/>
          <p:cNvSpPr txBox="1"/>
          <p:nvPr/>
        </p:nvSpPr>
        <p:spPr>
          <a:xfrm>
            <a:off x="4773168" y="4956048"/>
            <a:ext cx="2560320" cy="164592"/>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D6B84"/>
                </a:solidFill>
                <a:latin typeface="Inter" pitchFamily="34" charset="0"/>
                <a:ea typeface="Inter" pitchFamily="34" charset="-122"/>
                <a:cs typeface="Inter" pitchFamily="34" charset="-120"/>
              </a:rPr>
              <a:t>2.83% hit rate</a:t>
            </a:r>
            <a:endParaRPr lang="en-US" sz="950" dirty="0"/>
          </a:p>
        </p:txBody>
      </p:sp>
      <p:sp>
        <p:nvSpPr>
          <p:cNvPr id="27" name="Shape 25"/>
          <p:cNvSpPr/>
          <p:nvPr/>
        </p:nvSpPr>
        <p:spPr>
          <a:xfrm>
            <a:off x="8119872" y="4041648"/>
            <a:ext cx="3474720" cy="1417320"/>
          </a:xfrm>
          <a:prstGeom prst="roundRect">
            <a:avLst>
              <a:gd name="adj" fmla="val 9032"/>
            </a:avLst>
          </a:prstGeom>
          <a:solidFill>
            <a:srgbClr val="E0F7EF"/>
          </a:solidFill>
          <a:ln w="10160">
            <a:solidFill>
              <a:srgbClr val="CBEFE1"/>
            </a:solidFill>
            <a:prstDash val="solid"/>
          </a:ln>
        </p:spPr>
        <p:txBody>
          <a:bodyPr/>
          <a:p/>
        </p:txBody>
      </p:sp>
      <p:sp>
        <p:nvSpPr>
          <p:cNvPr id="28" name="Text 26"/>
          <p:cNvSpPr txBox="1"/>
          <p:nvPr/>
        </p:nvSpPr>
        <p:spPr>
          <a:xfrm>
            <a:off x="8339328" y="4279392"/>
            <a:ext cx="2926080" cy="228600"/>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202A40"/>
                </a:solidFill>
                <a:latin typeface="Inter" pitchFamily="34" charset="0"/>
                <a:ea typeface="Inter" pitchFamily="34" charset="-122"/>
                <a:cs typeface="Inter" pitchFamily="34" charset="-120"/>
              </a:rPr>
              <a:t>Best valid hardware sample</a:t>
            </a:r>
            <a:endParaRPr lang="en-US" sz="1050" dirty="0"/>
          </a:p>
        </p:txBody>
      </p:sp>
      <p:sp>
        <p:nvSpPr>
          <p:cNvPr id="29" name="Text 27"/>
          <p:cNvSpPr txBox="1"/>
          <p:nvPr/>
        </p:nvSpPr>
        <p:spPr>
          <a:xfrm>
            <a:off x="8339328" y="4599432"/>
            <a:ext cx="2926080" cy="29260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28765"/>
                </a:solidFill>
                <a:latin typeface="Inter" pitchFamily="34" charset="0"/>
                <a:ea typeface="Inter" pitchFamily="34" charset="-122"/>
                <a:cs typeface="Inter" pitchFamily="34" charset="-120"/>
              </a:rPr>
              <a:t>Matched the exact optimum</a:t>
            </a:r>
            <a:endParaRPr lang="en-US" sz="1500" dirty="0"/>
          </a:p>
        </p:txBody>
      </p:sp>
      <p:sp>
        <p:nvSpPr>
          <p:cNvPr id="30" name="Text 28"/>
          <p:cNvSpPr txBox="1"/>
          <p:nvPr/>
        </p:nvSpPr>
        <p:spPr>
          <a:xfrm>
            <a:off x="640080" y="5806440"/>
            <a:ext cx="10972800" cy="219456"/>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5D6B84"/>
                </a:solidFill>
                <a:latin typeface="Inter" pitchFamily="34" charset="0"/>
                <a:ea typeface="Inter" pitchFamily="34" charset="-122"/>
                <a:cs typeface="Inter" pitchFamily="34" charset="-120"/>
              </a:rPr>
              <a:t>QAOA depth p = 1  ·  IBM backend: ibm_kingston  ·  1,024 hardware shots</a:t>
            </a:r>
            <a:endParaRPr lang="en-US" sz="95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84048"/>
            <a:ext cx="1709928"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600200"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LEVEL 2 · INTERMEDIATE</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Quantum kernels measure portfolio similarity</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This notebook explores machine learning, not QAOA: encode each portfolio, compare quantum states, then classify with an SVM.</a:t>
            </a:r>
            <a:endParaRPr lang="en-US" sz="1220" dirty="0"/>
          </a:p>
        </p:txBody>
      </p:sp>
      <p:sp>
        <p:nvSpPr>
          <p:cNvPr id="6" name="Shape 4"/>
          <p:cNvSpPr/>
          <p:nvPr/>
        </p:nvSpPr>
        <p:spPr>
          <a:xfrm>
            <a:off x="566928" y="1847088"/>
            <a:ext cx="5074920" cy="3383280"/>
          </a:xfrm>
          <a:prstGeom prst="roundRect">
            <a:avLst>
              <a:gd name="adj" fmla="val 3784"/>
            </a:avLst>
          </a:prstGeom>
          <a:solidFill>
            <a:srgbClr val="FFFFFF"/>
          </a:solidFill>
          <a:ln w="10160">
            <a:solidFill>
              <a:srgbClr val="DEE5F0"/>
            </a:solidFill>
            <a:prstDash val="solid"/>
          </a:ln>
        </p:spPr>
        <p:txBody>
          <a:bodyPr/>
          <a:p/>
        </p:txBody>
      </p:sp>
      <p:sp>
        <p:nvSpPr>
          <p:cNvPr id="7" name="Text 5"/>
          <p:cNvSpPr txBox="1"/>
          <p:nvPr/>
        </p:nvSpPr>
        <p:spPr>
          <a:xfrm>
            <a:off x="822960" y="2084832"/>
            <a:ext cx="2926080" cy="219456"/>
          </a:xfrm>
          <a:prstGeom prst="rect">
            <a:avLst/>
          </a:prstGeom>
          <a:noFill/>
          <a:ln/>
        </p:spPr>
        <p:txBody>
          <a:bodyPr wrap="square" lIns="0" tIns="0" rIns="0" bIns="0" rtlCol="0" anchor="ctr">
            <a:normAutofit/>
          </a:bodyPr>
          <a:lstStyle/>
          <a:p>
            <a:pPr algn="l" indent="0" marL="0">
              <a:lnSpc>
                <a:spcPct val="100000"/>
              </a:lnSpc>
              <a:buNone/>
            </a:pPr>
            <a:r>
              <a:rPr lang="en-US" sz="900" b="1" spc="100" kern="0" dirty="0">
                <a:solidFill>
                  <a:srgbClr val="8B98AE"/>
                </a:solidFill>
                <a:latin typeface="Inter" pitchFamily="34" charset="0"/>
                <a:ea typeface="Inter" pitchFamily="34" charset="-122"/>
                <a:cs typeface="Inter" pitchFamily="34" charset="-120"/>
              </a:rPr>
              <a:t>QUANTUM-KERNEL PIPELINE</a:t>
            </a:r>
            <a:endParaRPr lang="en-US" sz="900" dirty="0"/>
          </a:p>
        </p:txBody>
      </p:sp>
      <p:sp>
        <p:nvSpPr>
          <p:cNvPr id="8" name="Shape 6"/>
          <p:cNvSpPr/>
          <p:nvPr/>
        </p:nvSpPr>
        <p:spPr>
          <a:xfrm>
            <a:off x="832104" y="2542032"/>
            <a:ext cx="310896" cy="310896"/>
          </a:xfrm>
          <a:prstGeom prst="ellipse">
            <a:avLst/>
          </a:prstGeom>
          <a:solidFill>
            <a:srgbClr val="14A8B5"/>
          </a:solidFill>
          <a:ln w="12700">
            <a:solidFill>
              <a:srgbClr val="14A8B5"/>
            </a:solidFill>
            <a:prstDash val="solid"/>
          </a:ln>
        </p:spPr>
        <p:txBody>
          <a:bodyPr/>
          <a:p/>
        </p:txBody>
      </p:sp>
      <p:sp>
        <p:nvSpPr>
          <p:cNvPr id="9" name="Text 7"/>
          <p:cNvSpPr txBox="1"/>
          <p:nvPr/>
        </p:nvSpPr>
        <p:spPr>
          <a:xfrm>
            <a:off x="832104" y="2551176"/>
            <a:ext cx="310896" cy="292608"/>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1</a:t>
            </a:r>
            <a:endParaRPr lang="en-US" sz="1000" dirty="0"/>
          </a:p>
        </p:txBody>
      </p:sp>
      <p:sp>
        <p:nvSpPr>
          <p:cNvPr id="10" name="Text 8"/>
          <p:cNvSpPr txBox="1"/>
          <p:nvPr/>
        </p:nvSpPr>
        <p:spPr>
          <a:xfrm>
            <a:off x="1298448" y="2532888"/>
            <a:ext cx="1965960" cy="246888"/>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Portfolio vector</a:t>
            </a:r>
            <a:endParaRPr lang="en-US" sz="1200" dirty="0"/>
          </a:p>
        </p:txBody>
      </p:sp>
      <p:sp>
        <p:nvSpPr>
          <p:cNvPr id="11" name="Text 9"/>
          <p:cNvSpPr txBox="1"/>
          <p:nvPr/>
        </p:nvSpPr>
        <p:spPr>
          <a:xfrm>
            <a:off x="3246120" y="2542032"/>
            <a:ext cx="2057400" cy="228600"/>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D6B84"/>
                </a:solidFill>
                <a:latin typeface="Inter" pitchFamily="34" charset="0"/>
                <a:ea typeface="Inter" pitchFamily="34" charset="-122"/>
                <a:cs typeface="Inter" pitchFamily="34" charset="-120"/>
              </a:rPr>
              <a:t>12 binary stock choices</a:t>
            </a:r>
            <a:endParaRPr lang="en-US" sz="960" dirty="0"/>
          </a:p>
        </p:txBody>
      </p:sp>
      <p:sp>
        <p:nvSpPr>
          <p:cNvPr id="12" name="Shape 10"/>
          <p:cNvSpPr/>
          <p:nvPr/>
        </p:nvSpPr>
        <p:spPr>
          <a:xfrm>
            <a:off x="987552" y="2862072"/>
            <a:ext cx="0" cy="274320"/>
          </a:xfrm>
          <a:prstGeom prst="line">
            <a:avLst/>
          </a:prstGeom>
          <a:noFill/>
          <a:ln w="15240">
            <a:solidFill>
              <a:srgbClr val="C8D2E3"/>
            </a:solidFill>
            <a:prstDash val="solid"/>
            <a:headEnd type="none"/>
            <a:tailEnd type="none"/>
          </a:ln>
        </p:spPr>
        <p:txBody>
          <a:bodyPr/>
          <a:p/>
        </p:txBody>
      </p:sp>
      <p:sp>
        <p:nvSpPr>
          <p:cNvPr id="13" name="Shape 11"/>
          <p:cNvSpPr/>
          <p:nvPr/>
        </p:nvSpPr>
        <p:spPr>
          <a:xfrm>
            <a:off x="832104" y="3191256"/>
            <a:ext cx="310896" cy="310896"/>
          </a:xfrm>
          <a:prstGeom prst="ellipse">
            <a:avLst/>
          </a:prstGeom>
          <a:solidFill>
            <a:srgbClr val="6D4AFF"/>
          </a:solidFill>
          <a:ln w="12700">
            <a:solidFill>
              <a:srgbClr val="6D4AFF"/>
            </a:solidFill>
            <a:prstDash val="solid"/>
          </a:ln>
        </p:spPr>
        <p:txBody>
          <a:bodyPr/>
          <a:p/>
        </p:txBody>
      </p:sp>
      <p:sp>
        <p:nvSpPr>
          <p:cNvPr id="14" name="Text 12"/>
          <p:cNvSpPr txBox="1"/>
          <p:nvPr/>
        </p:nvSpPr>
        <p:spPr>
          <a:xfrm>
            <a:off x="832104" y="3200400"/>
            <a:ext cx="310896" cy="292608"/>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2</a:t>
            </a:r>
            <a:endParaRPr lang="en-US" sz="1000" dirty="0"/>
          </a:p>
        </p:txBody>
      </p:sp>
      <p:sp>
        <p:nvSpPr>
          <p:cNvPr id="15" name="Text 13"/>
          <p:cNvSpPr txBox="1"/>
          <p:nvPr/>
        </p:nvSpPr>
        <p:spPr>
          <a:xfrm>
            <a:off x="1298448" y="3182112"/>
            <a:ext cx="1965960" cy="246888"/>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Quantum feature map</a:t>
            </a:r>
            <a:endParaRPr lang="en-US" sz="1200" dirty="0"/>
          </a:p>
        </p:txBody>
      </p:sp>
      <p:sp>
        <p:nvSpPr>
          <p:cNvPr id="16" name="Text 14"/>
          <p:cNvSpPr txBox="1"/>
          <p:nvPr/>
        </p:nvSpPr>
        <p:spPr>
          <a:xfrm>
            <a:off x="3246120" y="3191256"/>
            <a:ext cx="2057400" cy="228600"/>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D6B84"/>
                </a:solidFill>
                <a:latin typeface="Inter" pitchFamily="34" charset="0"/>
                <a:ea typeface="Inter" pitchFamily="34" charset="-122"/>
                <a:cs typeface="Inter" pitchFamily="34" charset="-120"/>
              </a:rPr>
              <a:t>12 qubits · 2 repetitions</a:t>
            </a:r>
            <a:endParaRPr lang="en-US" sz="960" dirty="0"/>
          </a:p>
        </p:txBody>
      </p:sp>
      <p:sp>
        <p:nvSpPr>
          <p:cNvPr id="17" name="Shape 15"/>
          <p:cNvSpPr/>
          <p:nvPr/>
        </p:nvSpPr>
        <p:spPr>
          <a:xfrm>
            <a:off x="987552" y="3511296"/>
            <a:ext cx="0" cy="274320"/>
          </a:xfrm>
          <a:prstGeom prst="line">
            <a:avLst/>
          </a:prstGeom>
          <a:noFill/>
          <a:ln w="15240">
            <a:solidFill>
              <a:srgbClr val="C8D2E3"/>
            </a:solidFill>
            <a:prstDash val="solid"/>
            <a:headEnd type="none"/>
            <a:tailEnd type="none"/>
          </a:ln>
        </p:spPr>
        <p:txBody>
          <a:bodyPr/>
          <a:p/>
        </p:txBody>
      </p:sp>
      <p:sp>
        <p:nvSpPr>
          <p:cNvPr id="18" name="Shape 16"/>
          <p:cNvSpPr/>
          <p:nvPr/>
        </p:nvSpPr>
        <p:spPr>
          <a:xfrm>
            <a:off x="832104" y="3840480"/>
            <a:ext cx="310896" cy="310896"/>
          </a:xfrm>
          <a:prstGeom prst="ellipse">
            <a:avLst/>
          </a:prstGeom>
          <a:solidFill>
            <a:srgbClr val="3B72E8"/>
          </a:solidFill>
          <a:ln w="12700">
            <a:solidFill>
              <a:srgbClr val="3B72E8"/>
            </a:solidFill>
            <a:prstDash val="solid"/>
          </a:ln>
        </p:spPr>
        <p:txBody>
          <a:bodyPr/>
          <a:p/>
        </p:txBody>
      </p:sp>
      <p:sp>
        <p:nvSpPr>
          <p:cNvPr id="19" name="Text 17"/>
          <p:cNvSpPr txBox="1"/>
          <p:nvPr/>
        </p:nvSpPr>
        <p:spPr>
          <a:xfrm>
            <a:off x="832104" y="3849624"/>
            <a:ext cx="310896" cy="292608"/>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3</a:t>
            </a:r>
            <a:endParaRPr lang="en-US" sz="1000" dirty="0"/>
          </a:p>
        </p:txBody>
      </p:sp>
      <p:sp>
        <p:nvSpPr>
          <p:cNvPr id="20" name="Text 18"/>
          <p:cNvSpPr txBox="1"/>
          <p:nvPr/>
        </p:nvSpPr>
        <p:spPr>
          <a:xfrm>
            <a:off x="1298448" y="3831336"/>
            <a:ext cx="1965960" cy="246888"/>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Fidelity kernel</a:t>
            </a:r>
            <a:endParaRPr lang="en-US" sz="1200" dirty="0"/>
          </a:p>
        </p:txBody>
      </p:sp>
      <p:sp>
        <p:nvSpPr>
          <p:cNvPr id="21" name="Text 19"/>
          <p:cNvSpPr txBox="1"/>
          <p:nvPr/>
        </p:nvSpPr>
        <p:spPr>
          <a:xfrm>
            <a:off x="3246120" y="3840480"/>
            <a:ext cx="2057400" cy="228600"/>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D6B84"/>
                </a:solidFill>
                <a:latin typeface="Inter" pitchFamily="34" charset="0"/>
                <a:ea typeface="Inter" pitchFamily="34" charset="-122"/>
                <a:cs typeface="Inter" pitchFamily="34" charset="-120"/>
              </a:rPr>
              <a:t>K(x,y) = |⟨φ(x)|φ(y)⟩|²</a:t>
            </a:r>
            <a:endParaRPr lang="en-US" sz="960" dirty="0"/>
          </a:p>
        </p:txBody>
      </p:sp>
      <p:sp>
        <p:nvSpPr>
          <p:cNvPr id="22" name="Shape 20"/>
          <p:cNvSpPr/>
          <p:nvPr/>
        </p:nvSpPr>
        <p:spPr>
          <a:xfrm>
            <a:off x="987552" y="4160520"/>
            <a:ext cx="0" cy="274320"/>
          </a:xfrm>
          <a:prstGeom prst="line">
            <a:avLst/>
          </a:prstGeom>
          <a:noFill/>
          <a:ln w="15240">
            <a:solidFill>
              <a:srgbClr val="C8D2E3"/>
            </a:solidFill>
            <a:prstDash val="solid"/>
            <a:headEnd type="none"/>
            <a:tailEnd type="none"/>
          </a:ln>
        </p:spPr>
        <p:txBody>
          <a:bodyPr/>
          <a:p/>
        </p:txBody>
      </p:sp>
      <p:sp>
        <p:nvSpPr>
          <p:cNvPr id="23" name="Shape 21"/>
          <p:cNvSpPr/>
          <p:nvPr/>
        </p:nvSpPr>
        <p:spPr>
          <a:xfrm>
            <a:off x="832104" y="4489704"/>
            <a:ext cx="310896" cy="310896"/>
          </a:xfrm>
          <a:prstGeom prst="ellipse">
            <a:avLst/>
          </a:prstGeom>
          <a:solidFill>
            <a:srgbClr val="20B892"/>
          </a:solidFill>
          <a:ln w="12700">
            <a:solidFill>
              <a:srgbClr val="20B892"/>
            </a:solidFill>
            <a:prstDash val="solid"/>
          </a:ln>
        </p:spPr>
        <p:txBody>
          <a:bodyPr/>
          <a:p/>
        </p:txBody>
      </p:sp>
      <p:sp>
        <p:nvSpPr>
          <p:cNvPr id="24" name="Text 22"/>
          <p:cNvSpPr txBox="1"/>
          <p:nvPr/>
        </p:nvSpPr>
        <p:spPr>
          <a:xfrm>
            <a:off x="832104" y="4498848"/>
            <a:ext cx="310896" cy="292608"/>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4</a:t>
            </a:r>
            <a:endParaRPr lang="en-US" sz="1000" dirty="0"/>
          </a:p>
        </p:txBody>
      </p:sp>
      <p:sp>
        <p:nvSpPr>
          <p:cNvPr id="25" name="Text 23"/>
          <p:cNvSpPr txBox="1"/>
          <p:nvPr/>
        </p:nvSpPr>
        <p:spPr>
          <a:xfrm>
            <a:off x="1298448" y="4480560"/>
            <a:ext cx="1965960" cy="246888"/>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SVM + ranking</a:t>
            </a:r>
            <a:endParaRPr lang="en-US" sz="1200" dirty="0"/>
          </a:p>
        </p:txBody>
      </p:sp>
      <p:sp>
        <p:nvSpPr>
          <p:cNvPr id="26" name="Text 24"/>
          <p:cNvSpPr txBox="1"/>
          <p:nvPr/>
        </p:nvSpPr>
        <p:spPr>
          <a:xfrm>
            <a:off x="3246120" y="4489704"/>
            <a:ext cx="2057400" cy="228600"/>
          </a:xfrm>
          <a:prstGeom prst="rect">
            <a:avLst/>
          </a:prstGeom>
          <a:noFill/>
          <a:ln/>
        </p:spPr>
        <p:txBody>
          <a:bodyPr wrap="square" lIns="0" tIns="0" rIns="0" bIns="0" rtlCol="0" anchor="ctr">
            <a:normAutofit/>
          </a:bodyPr>
          <a:lstStyle/>
          <a:p>
            <a:pPr algn="l" indent="0" marL="0">
              <a:lnSpc>
                <a:spcPct val="100000"/>
              </a:lnSpc>
              <a:buNone/>
            </a:pPr>
            <a:r>
              <a:rPr lang="en-US" sz="960" dirty="0">
                <a:solidFill>
                  <a:srgbClr val="5D6B84"/>
                </a:solidFill>
                <a:latin typeface="Inter" pitchFamily="34" charset="0"/>
                <a:ea typeface="Inter" pitchFamily="34" charset="-122"/>
                <a:cs typeface="Inter" pitchFamily="34" charset="-120"/>
              </a:rPr>
              <a:t>Compare with classical RBF SVM</a:t>
            </a:r>
            <a:endParaRPr lang="en-US" sz="960" dirty="0"/>
          </a:p>
        </p:txBody>
      </p:sp>
      <p:sp>
        <p:nvSpPr>
          <p:cNvPr id="27" name="Shape 25"/>
          <p:cNvSpPr/>
          <p:nvPr/>
        </p:nvSpPr>
        <p:spPr>
          <a:xfrm>
            <a:off x="5925312" y="1847088"/>
            <a:ext cx="5669280" cy="1344168"/>
          </a:xfrm>
          <a:prstGeom prst="roundRect">
            <a:avLst>
              <a:gd name="adj" fmla="val 9524"/>
            </a:avLst>
          </a:prstGeom>
          <a:solidFill>
            <a:srgbClr val="FFFFFF"/>
          </a:solidFill>
          <a:ln w="10160">
            <a:solidFill>
              <a:srgbClr val="DEE5F0"/>
            </a:solidFill>
            <a:prstDash val="solid"/>
          </a:ln>
        </p:spPr>
        <p:txBody>
          <a:bodyPr/>
          <a:p/>
        </p:txBody>
      </p:sp>
      <p:sp>
        <p:nvSpPr>
          <p:cNvPr id="28" name="Shape 26"/>
          <p:cNvSpPr/>
          <p:nvPr/>
        </p:nvSpPr>
        <p:spPr>
          <a:xfrm>
            <a:off x="6144768" y="2039112"/>
            <a:ext cx="1572768" cy="896112"/>
          </a:xfrm>
          <a:prstGeom prst="roundRect">
            <a:avLst>
              <a:gd name="adj" fmla="val 14286"/>
            </a:avLst>
          </a:prstGeom>
          <a:solidFill>
            <a:srgbClr val="FFFFFF"/>
          </a:solidFill>
          <a:ln w="10160">
            <a:solidFill>
              <a:srgbClr val="DEE5F0"/>
            </a:solidFill>
            <a:prstDash val="solid"/>
          </a:ln>
        </p:spPr>
        <p:txBody>
          <a:bodyPr/>
          <a:p/>
        </p:txBody>
      </p:sp>
      <p:sp>
        <p:nvSpPr>
          <p:cNvPr id="29" name="Shape 27"/>
          <p:cNvSpPr/>
          <p:nvPr/>
        </p:nvSpPr>
        <p:spPr>
          <a:xfrm>
            <a:off x="6144768" y="2039112"/>
            <a:ext cx="54864" cy="896112"/>
          </a:xfrm>
          <a:prstGeom prst="rect">
            <a:avLst/>
          </a:prstGeom>
          <a:solidFill>
            <a:srgbClr val="6D4AFF"/>
          </a:solidFill>
          <a:ln w="12700">
            <a:solidFill>
              <a:srgbClr val="6D4AFF">
                <a:alpha val="0"/>
              </a:srgbClr>
            </a:solidFill>
            <a:prstDash val="solid"/>
          </a:ln>
        </p:spPr>
        <p:txBody>
          <a:bodyPr/>
          <a:p/>
        </p:txBody>
      </p:sp>
      <p:sp>
        <p:nvSpPr>
          <p:cNvPr id="30" name="Text 28"/>
          <p:cNvSpPr txBox="1"/>
          <p:nvPr/>
        </p:nvSpPr>
        <p:spPr>
          <a:xfrm>
            <a:off x="6327648" y="2157984"/>
            <a:ext cx="1280160" cy="384048"/>
          </a:xfrm>
          <a:prstGeom prst="rect">
            <a:avLst/>
          </a:prstGeom>
          <a:noFill/>
          <a:ln/>
        </p:spPr>
        <p:txBody>
          <a:bodyPr wrap="square" lIns="0" tIns="0" rIns="0" bIns="0" rtlCol="0" anchor="ctr">
            <a:normAutofit/>
          </a:bodyPr>
          <a:lstStyle/>
          <a:p>
            <a:pPr algn="l" indent="0" marL="0">
              <a:lnSpc>
                <a:spcPct val="100000"/>
              </a:lnSpc>
              <a:buNone/>
            </a:pPr>
            <a:r>
              <a:rPr lang="en-US" sz="2300" b="1" dirty="0">
                <a:solidFill>
                  <a:srgbClr val="6D4AFF"/>
                </a:solidFill>
                <a:latin typeface="Inter" pitchFamily="34" charset="0"/>
                <a:ea typeface="Inter" pitchFamily="34" charset="-122"/>
                <a:cs typeface="Inter" pitchFamily="34" charset="-120"/>
              </a:rPr>
              <a:t>924</a:t>
            </a:r>
            <a:endParaRPr lang="en-US" sz="2300" dirty="0"/>
          </a:p>
        </p:txBody>
      </p:sp>
      <p:sp>
        <p:nvSpPr>
          <p:cNvPr id="31" name="Text 29"/>
          <p:cNvSpPr txBox="1"/>
          <p:nvPr/>
        </p:nvSpPr>
        <p:spPr>
          <a:xfrm>
            <a:off x="6327648" y="2560320"/>
            <a:ext cx="1280160" cy="32004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202A40"/>
                </a:solidFill>
                <a:latin typeface="Inter" pitchFamily="34" charset="0"/>
                <a:ea typeface="Inter" pitchFamily="34" charset="-122"/>
                <a:cs typeface="Inter" pitchFamily="34" charset="-120"/>
              </a:rPr>
              <a:t>candidate portfolios</a:t>
            </a:r>
            <a:endParaRPr lang="en-US" sz="1040" dirty="0"/>
          </a:p>
        </p:txBody>
      </p:sp>
      <p:sp>
        <p:nvSpPr>
          <p:cNvPr id="32" name="Shape 30"/>
          <p:cNvSpPr/>
          <p:nvPr/>
        </p:nvSpPr>
        <p:spPr>
          <a:xfrm>
            <a:off x="7836408" y="2039112"/>
            <a:ext cx="1572768" cy="896112"/>
          </a:xfrm>
          <a:prstGeom prst="roundRect">
            <a:avLst>
              <a:gd name="adj" fmla="val 14286"/>
            </a:avLst>
          </a:prstGeom>
          <a:solidFill>
            <a:srgbClr val="FFFFFF"/>
          </a:solidFill>
          <a:ln w="10160">
            <a:solidFill>
              <a:srgbClr val="DEE5F0"/>
            </a:solidFill>
            <a:prstDash val="solid"/>
          </a:ln>
        </p:spPr>
        <p:txBody>
          <a:bodyPr/>
          <a:p/>
        </p:txBody>
      </p:sp>
      <p:sp>
        <p:nvSpPr>
          <p:cNvPr id="33" name="Shape 31"/>
          <p:cNvSpPr/>
          <p:nvPr/>
        </p:nvSpPr>
        <p:spPr>
          <a:xfrm>
            <a:off x="7836408" y="2039112"/>
            <a:ext cx="54864" cy="896112"/>
          </a:xfrm>
          <a:prstGeom prst="rect">
            <a:avLst/>
          </a:prstGeom>
          <a:solidFill>
            <a:srgbClr val="14A8B5"/>
          </a:solidFill>
          <a:ln w="12700">
            <a:solidFill>
              <a:srgbClr val="14A8B5">
                <a:alpha val="0"/>
              </a:srgbClr>
            </a:solidFill>
            <a:prstDash val="solid"/>
          </a:ln>
        </p:spPr>
        <p:txBody>
          <a:bodyPr/>
          <a:p/>
        </p:txBody>
      </p:sp>
      <p:sp>
        <p:nvSpPr>
          <p:cNvPr id="34" name="Text 32"/>
          <p:cNvSpPr txBox="1"/>
          <p:nvPr/>
        </p:nvSpPr>
        <p:spPr>
          <a:xfrm>
            <a:off x="8019288" y="2157984"/>
            <a:ext cx="1280160" cy="384048"/>
          </a:xfrm>
          <a:prstGeom prst="rect">
            <a:avLst/>
          </a:prstGeom>
          <a:noFill/>
          <a:ln/>
        </p:spPr>
        <p:txBody>
          <a:bodyPr wrap="square" lIns="0" tIns="0" rIns="0" bIns="0" rtlCol="0" anchor="ctr">
            <a:normAutofit/>
          </a:bodyPr>
          <a:lstStyle/>
          <a:p>
            <a:pPr algn="l" indent="0" marL="0">
              <a:lnSpc>
                <a:spcPct val="100000"/>
              </a:lnSpc>
              <a:buNone/>
            </a:pPr>
            <a:r>
              <a:rPr lang="en-US" sz="2300" b="1" dirty="0">
                <a:solidFill>
                  <a:srgbClr val="14A8B5"/>
                </a:solidFill>
                <a:latin typeface="Inter" pitchFamily="34" charset="0"/>
                <a:ea typeface="Inter" pitchFamily="34" charset="-122"/>
                <a:cs typeface="Inter" pitchFamily="34" charset="-120"/>
              </a:rPr>
              <a:t>100%</a:t>
            </a:r>
            <a:endParaRPr lang="en-US" sz="2300" dirty="0"/>
          </a:p>
        </p:txBody>
      </p:sp>
      <p:sp>
        <p:nvSpPr>
          <p:cNvPr id="35" name="Text 33"/>
          <p:cNvSpPr txBox="1"/>
          <p:nvPr/>
        </p:nvSpPr>
        <p:spPr>
          <a:xfrm>
            <a:off x="8019288" y="2560320"/>
            <a:ext cx="1280160" cy="32004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202A40"/>
                </a:solidFill>
                <a:latin typeface="Inter" pitchFamily="34" charset="0"/>
                <a:ea typeface="Inter" pitchFamily="34" charset="-122"/>
                <a:cs typeface="Inter" pitchFamily="34" charset="-120"/>
              </a:rPr>
              <a:t>initial split · both models</a:t>
            </a:r>
            <a:endParaRPr lang="en-US" sz="1040" dirty="0"/>
          </a:p>
        </p:txBody>
      </p:sp>
      <p:sp>
        <p:nvSpPr>
          <p:cNvPr id="36" name="Shape 34"/>
          <p:cNvSpPr/>
          <p:nvPr/>
        </p:nvSpPr>
        <p:spPr>
          <a:xfrm>
            <a:off x="9528048" y="2039112"/>
            <a:ext cx="1828800" cy="896112"/>
          </a:xfrm>
          <a:prstGeom prst="roundRect">
            <a:avLst>
              <a:gd name="adj" fmla="val 14286"/>
            </a:avLst>
          </a:prstGeom>
          <a:solidFill>
            <a:srgbClr val="FFFFFF"/>
          </a:solidFill>
          <a:ln w="10160">
            <a:solidFill>
              <a:srgbClr val="DEE5F0"/>
            </a:solidFill>
            <a:prstDash val="solid"/>
          </a:ln>
        </p:spPr>
        <p:txBody>
          <a:bodyPr/>
          <a:p/>
        </p:txBody>
      </p:sp>
      <p:sp>
        <p:nvSpPr>
          <p:cNvPr id="37" name="Shape 35"/>
          <p:cNvSpPr/>
          <p:nvPr/>
        </p:nvSpPr>
        <p:spPr>
          <a:xfrm>
            <a:off x="9528048" y="2039112"/>
            <a:ext cx="54864" cy="896112"/>
          </a:xfrm>
          <a:prstGeom prst="rect">
            <a:avLst/>
          </a:prstGeom>
          <a:solidFill>
            <a:srgbClr val="20B892"/>
          </a:solidFill>
          <a:ln w="12700">
            <a:solidFill>
              <a:srgbClr val="20B892">
                <a:alpha val="0"/>
              </a:srgbClr>
            </a:solidFill>
            <a:prstDash val="solid"/>
          </a:ln>
        </p:spPr>
        <p:txBody>
          <a:bodyPr/>
          <a:p/>
        </p:txBody>
      </p:sp>
      <p:sp>
        <p:nvSpPr>
          <p:cNvPr id="38" name="Text 36"/>
          <p:cNvSpPr txBox="1"/>
          <p:nvPr/>
        </p:nvSpPr>
        <p:spPr>
          <a:xfrm>
            <a:off x="9710928" y="2157984"/>
            <a:ext cx="1536192" cy="384048"/>
          </a:xfrm>
          <a:prstGeom prst="rect">
            <a:avLst/>
          </a:prstGeom>
          <a:noFill/>
          <a:ln/>
        </p:spPr>
        <p:txBody>
          <a:bodyPr wrap="square" lIns="0" tIns="0" rIns="0" bIns="0" rtlCol="0" anchor="ctr">
            <a:normAutofit/>
          </a:bodyPr>
          <a:lstStyle/>
          <a:p>
            <a:pPr algn="l" indent="0" marL="0">
              <a:lnSpc>
                <a:spcPct val="100000"/>
              </a:lnSpc>
              <a:buNone/>
            </a:pPr>
            <a:r>
              <a:rPr lang="en-US" sz="2300" b="1" dirty="0">
                <a:solidFill>
                  <a:srgbClr val="20B892"/>
                </a:solidFill>
                <a:latin typeface="Inter" pitchFamily="34" charset="0"/>
                <a:ea typeface="Inter" pitchFamily="34" charset="-122"/>
                <a:cs typeface="Inter" pitchFamily="34" charset="-120"/>
              </a:rPr>
              <a:t>1.4</a:t>
            </a:r>
            <a:endParaRPr lang="en-US" sz="2300" dirty="0"/>
          </a:p>
        </p:txBody>
      </p:sp>
      <p:sp>
        <p:nvSpPr>
          <p:cNvPr id="39" name="Text 37"/>
          <p:cNvSpPr txBox="1"/>
          <p:nvPr/>
        </p:nvSpPr>
        <p:spPr>
          <a:xfrm>
            <a:off x="9710928" y="2560320"/>
            <a:ext cx="1536192" cy="32004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202A40"/>
                </a:solidFill>
                <a:latin typeface="Inter" pitchFamily="34" charset="0"/>
                <a:ea typeface="Inter" pitchFamily="34" charset="-122"/>
                <a:cs typeface="Inter" pitchFamily="34" charset="-120"/>
              </a:rPr>
              <a:t>quantum mean optimum rank</a:t>
            </a:r>
            <a:endParaRPr lang="en-US" sz="1040" dirty="0"/>
          </a:p>
        </p:txBody>
      </p:sp>
      <p:sp>
        <p:nvSpPr>
          <p:cNvPr id="40" name="Shape 38"/>
          <p:cNvSpPr/>
          <p:nvPr/>
        </p:nvSpPr>
        <p:spPr>
          <a:xfrm>
            <a:off x="5925312" y="3401568"/>
            <a:ext cx="5669280" cy="1353312"/>
          </a:xfrm>
          <a:prstGeom prst="roundRect">
            <a:avLst>
              <a:gd name="adj" fmla="val 9459"/>
            </a:avLst>
          </a:prstGeom>
          <a:solidFill>
            <a:srgbClr val="FFFFFF"/>
          </a:solidFill>
          <a:ln w="10160">
            <a:solidFill>
              <a:srgbClr val="DEE5F0"/>
            </a:solidFill>
            <a:prstDash val="solid"/>
          </a:ln>
        </p:spPr>
        <p:txBody>
          <a:bodyPr/>
          <a:p/>
        </p:txBody>
      </p:sp>
      <p:sp>
        <p:nvSpPr>
          <p:cNvPr id="41" name="Text 39"/>
          <p:cNvSpPr txBox="1"/>
          <p:nvPr/>
        </p:nvSpPr>
        <p:spPr>
          <a:xfrm>
            <a:off x="6181344" y="3593592"/>
            <a:ext cx="2651760" cy="201168"/>
          </a:xfrm>
          <a:prstGeom prst="rect">
            <a:avLst/>
          </a:prstGeom>
          <a:noFill/>
          <a:ln/>
        </p:spPr>
        <p:txBody>
          <a:bodyPr wrap="square" lIns="0" tIns="0" rIns="0" bIns="0" rtlCol="0" anchor="ctr">
            <a:normAutofit/>
          </a:bodyPr>
          <a:lstStyle/>
          <a:p>
            <a:pPr algn="l" indent="0" marL="0">
              <a:lnSpc>
                <a:spcPct val="100000"/>
              </a:lnSpc>
              <a:buNone/>
            </a:pPr>
            <a:r>
              <a:rPr lang="en-US" sz="900" b="1" spc="80" kern="0" dirty="0">
                <a:solidFill>
                  <a:srgbClr val="8B98AE"/>
                </a:solidFill>
                <a:latin typeface="Inter" pitchFamily="34" charset="0"/>
                <a:ea typeface="Inter" pitchFamily="34" charset="-122"/>
                <a:cs typeface="Inter" pitchFamily="34" charset="-120"/>
              </a:rPr>
              <a:t>FIVE RANKING EVALUATIONS</a:t>
            </a:r>
            <a:endParaRPr lang="en-US" sz="900" dirty="0"/>
          </a:p>
        </p:txBody>
      </p:sp>
      <p:sp>
        <p:nvSpPr>
          <p:cNvPr id="42" name="Text 40"/>
          <p:cNvSpPr txBox="1"/>
          <p:nvPr/>
        </p:nvSpPr>
        <p:spPr>
          <a:xfrm>
            <a:off x="6181344" y="3931920"/>
            <a:ext cx="1920240" cy="228600"/>
          </a:xfrm>
          <a:prstGeom prst="rect">
            <a:avLst/>
          </a:prstGeom>
          <a:noFill/>
          <a:ln/>
        </p:spPr>
        <p:txBody>
          <a:bodyPr wrap="square" lIns="0" tIns="0" rIns="0" bIns="0" rtlCol="0" anchor="ctr">
            <a:normAutofit/>
          </a:bodyPr>
          <a:lstStyle/>
          <a:p>
            <a:pPr algn="l" indent="0" marL="0">
              <a:lnSpc>
                <a:spcPct val="100000"/>
              </a:lnSpc>
              <a:buNone/>
            </a:pPr>
            <a:r>
              <a:rPr lang="en-US" sz="1030" b="1" dirty="0">
                <a:solidFill>
                  <a:srgbClr val="6D4AFF"/>
                </a:solidFill>
                <a:latin typeface="Inter" pitchFamily="34" charset="0"/>
                <a:ea typeface="Inter" pitchFamily="34" charset="-122"/>
                <a:cs typeface="Inter" pitchFamily="34" charset="-120"/>
              </a:rPr>
              <a:t>Quantum kernel SVM</a:t>
            </a:r>
            <a:endParaRPr lang="en-US" sz="1030" dirty="0"/>
          </a:p>
        </p:txBody>
      </p:sp>
      <p:sp>
        <p:nvSpPr>
          <p:cNvPr id="43" name="Text 41"/>
          <p:cNvSpPr txBox="1"/>
          <p:nvPr/>
        </p:nvSpPr>
        <p:spPr>
          <a:xfrm>
            <a:off x="8065008" y="3931920"/>
            <a:ext cx="1664208" cy="228600"/>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202A40"/>
                </a:solidFill>
                <a:latin typeface="Inter" pitchFamily="34" charset="0"/>
                <a:ea typeface="Inter" pitchFamily="34" charset="-122"/>
                <a:cs typeface="Inter" pitchFamily="34" charset="-120"/>
              </a:rPr>
              <a:t>Mean Spearman 0.9469</a:t>
            </a:r>
            <a:endParaRPr lang="en-US" sz="1020" dirty="0"/>
          </a:p>
        </p:txBody>
      </p:sp>
      <p:sp>
        <p:nvSpPr>
          <p:cNvPr id="44" name="Text 42"/>
          <p:cNvSpPr txBox="1"/>
          <p:nvPr/>
        </p:nvSpPr>
        <p:spPr>
          <a:xfrm>
            <a:off x="6181344" y="4279392"/>
            <a:ext cx="1920240" cy="228600"/>
          </a:xfrm>
          <a:prstGeom prst="rect">
            <a:avLst/>
          </a:prstGeom>
          <a:noFill/>
          <a:ln/>
        </p:spPr>
        <p:txBody>
          <a:bodyPr wrap="square" lIns="0" tIns="0" rIns="0" bIns="0" rtlCol="0" anchor="ctr">
            <a:normAutofit/>
          </a:bodyPr>
          <a:lstStyle/>
          <a:p>
            <a:pPr algn="l" indent="0" marL="0">
              <a:lnSpc>
                <a:spcPct val="100000"/>
              </a:lnSpc>
              <a:buNone/>
            </a:pPr>
            <a:r>
              <a:rPr lang="en-US" sz="1030" b="1" dirty="0">
                <a:solidFill>
                  <a:srgbClr val="14A8B5"/>
                </a:solidFill>
                <a:latin typeface="Inter" pitchFamily="34" charset="0"/>
                <a:ea typeface="Inter" pitchFamily="34" charset="-122"/>
                <a:cs typeface="Inter" pitchFamily="34" charset="-120"/>
              </a:rPr>
              <a:t>Classical RBF SVM</a:t>
            </a:r>
            <a:endParaRPr lang="en-US" sz="1030" dirty="0"/>
          </a:p>
        </p:txBody>
      </p:sp>
      <p:sp>
        <p:nvSpPr>
          <p:cNvPr id="45" name="Text 43"/>
          <p:cNvSpPr txBox="1"/>
          <p:nvPr/>
        </p:nvSpPr>
        <p:spPr>
          <a:xfrm>
            <a:off x="8065008" y="4279392"/>
            <a:ext cx="1664208" cy="228600"/>
          </a:xfrm>
          <a:prstGeom prst="rect">
            <a:avLst/>
          </a:prstGeom>
          <a:noFill/>
          <a:ln/>
        </p:spPr>
        <p:txBody>
          <a:bodyPr wrap="square" lIns="0" tIns="0" rIns="0" bIns="0" rtlCol="0" anchor="ctr">
            <a:normAutofit/>
          </a:bodyPr>
          <a:lstStyle/>
          <a:p>
            <a:pPr algn="l" indent="0" marL="0">
              <a:lnSpc>
                <a:spcPct val="100000"/>
              </a:lnSpc>
              <a:buNone/>
            </a:pPr>
            <a:r>
              <a:rPr lang="en-US" sz="1020" dirty="0">
                <a:solidFill>
                  <a:srgbClr val="202A40"/>
                </a:solidFill>
                <a:latin typeface="Inter" pitchFamily="34" charset="0"/>
                <a:ea typeface="Inter" pitchFamily="34" charset="-122"/>
                <a:cs typeface="Inter" pitchFamily="34" charset="-120"/>
              </a:rPr>
              <a:t>Mean Spearman 0.9563</a:t>
            </a:r>
            <a:endParaRPr lang="en-US" sz="1020" dirty="0"/>
          </a:p>
        </p:txBody>
      </p:sp>
      <p:sp>
        <p:nvSpPr>
          <p:cNvPr id="46" name="Text 44"/>
          <p:cNvSpPr txBox="1"/>
          <p:nvPr/>
        </p:nvSpPr>
        <p:spPr>
          <a:xfrm>
            <a:off x="6181344" y="5047488"/>
            <a:ext cx="5029200" cy="237744"/>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E96E5B"/>
                </a:solidFill>
                <a:latin typeface="Inter" pitchFamily="34" charset="0"/>
                <a:ea typeface="Inter" pitchFamily="34" charset="-122"/>
                <a:cs typeface="Inter" pitchFamily="34" charset="-120"/>
              </a:rPr>
              <a:t>Classical baseline ranked the exact optimum first in all five recorded splits.</a:t>
            </a:r>
            <a:endParaRPr lang="en-US" sz="1000" dirty="0"/>
          </a:p>
        </p:txBody>
      </p:sp>
      <p:sp>
        <p:nvSpPr>
          <p:cNvPr id="47" name="Text 45"/>
          <p:cNvSpPr txBox="1"/>
          <p:nvPr/>
        </p:nvSpPr>
        <p:spPr>
          <a:xfrm>
            <a:off x="621792" y="5468112"/>
            <a:ext cx="10972800" cy="182880"/>
          </a:xfrm>
          <a:prstGeom prst="rect">
            <a:avLst/>
          </a:prstGeom>
          <a:noFill/>
          <a:ln/>
        </p:spPr>
        <p:txBody>
          <a:bodyPr wrap="square" lIns="0" tIns="0" rIns="0" bIns="0" rtlCol="0" anchor="ctr">
            <a:normAutofit/>
          </a:bodyPr>
          <a:lstStyle/>
          <a:p>
            <a:pPr algn="l" indent="0" marL="0">
              <a:lnSpc>
                <a:spcPct val="100000"/>
              </a:lnSpc>
              <a:buNone/>
            </a:pPr>
            <a:r>
              <a:rPr lang="en-US" sz="920" b="1" dirty="0">
                <a:solidFill>
                  <a:srgbClr val="202A40"/>
                </a:solidFill>
                <a:latin typeface="Inter" pitchFamily="34" charset="0"/>
                <a:ea typeface="Inter" pitchFamily="34" charset="-122"/>
                <a:cs typeface="Inter" pitchFamily="34" charset="-120"/>
              </a:rPr>
              <a:t>Exact reference optimum: Stocks 2, 6, 7, 9, 11, 12 · cost −1.066392.</a:t>
            </a:r>
            <a:endParaRPr lang="en-US" sz="920" dirty="0"/>
          </a:p>
        </p:txBody>
      </p:sp>
      <p:sp>
        <p:nvSpPr>
          <p:cNvPr id="48" name="Text 46"/>
          <p:cNvSpPr txBox="1"/>
          <p:nvPr/>
        </p:nvSpPr>
        <p:spPr>
          <a:xfrm>
            <a:off x="621792" y="5733288"/>
            <a:ext cx="10972800" cy="292608"/>
          </a:xfrm>
          <a:prstGeom prst="rect">
            <a:avLst/>
          </a:prstGeom>
          <a:noFill/>
          <a:ln/>
        </p:spPr>
        <p:txBody>
          <a:bodyPr wrap="square" lIns="0" tIns="0" rIns="0" bIns="0" rtlCol="0" anchor="ctr">
            <a:normAutofit/>
          </a:bodyPr>
          <a:lstStyle/>
          <a:p>
            <a:pPr algn="l" indent="0" marL="0">
              <a:lnSpc>
                <a:spcPct val="100000"/>
              </a:lnSpc>
              <a:buNone/>
            </a:pPr>
            <a:r>
              <a:rPr lang="en-US" sz="920" i="1" dirty="0">
                <a:solidFill>
                  <a:srgbClr val="5D6B84"/>
                </a:solidFill>
                <a:latin typeface="Inter" pitchFamily="34" charset="0"/>
                <a:ea typeface="Inter" pitchFamily="34" charset="-122"/>
                <a:cs typeface="Inter" pitchFamily="34" charset="-120"/>
              </a:rPr>
              <a:t>Caution: 100% accuracy came from a synthetic, filtered-label task on the initial evaluated split; it is not evidence of real-world generalization.</a:t>
            </a:r>
            <a:endParaRPr lang="en-US" sz="92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84048"/>
            <a:ext cx="141732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3075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LEVEL 3 · ADVANCED</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Scaling the model exposes the constraint problem</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20 stocks, 10 selections, five sectors — with exhaustive search still feasible for this synthetic instance.</a:t>
            </a:r>
            <a:endParaRPr lang="en-US" sz="1220" dirty="0"/>
          </a:p>
        </p:txBody>
      </p:sp>
      <p:sp>
        <p:nvSpPr>
          <p:cNvPr id="6" name="Shape 4"/>
          <p:cNvSpPr/>
          <p:nvPr/>
        </p:nvSpPr>
        <p:spPr>
          <a:xfrm>
            <a:off x="566928" y="1856232"/>
            <a:ext cx="4892040" cy="3630168"/>
          </a:xfrm>
          <a:prstGeom prst="roundRect">
            <a:avLst>
              <a:gd name="adj" fmla="val 3526"/>
            </a:avLst>
          </a:prstGeom>
          <a:solidFill>
            <a:srgbClr val="FFFFFF"/>
          </a:solidFill>
          <a:ln w="10160">
            <a:solidFill>
              <a:srgbClr val="DEE5F0"/>
            </a:solidFill>
            <a:prstDash val="solid"/>
          </a:ln>
        </p:spPr>
        <p:txBody>
          <a:bodyPr/>
          <a:p/>
        </p:txBody>
      </p:sp>
      <p:sp>
        <p:nvSpPr>
          <p:cNvPr id="7" name="Shape 5"/>
          <p:cNvSpPr/>
          <p:nvPr/>
        </p:nvSpPr>
        <p:spPr>
          <a:xfrm>
            <a:off x="804672" y="2075688"/>
            <a:ext cx="224028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8" name="Text 6"/>
          <p:cNvSpPr txBox="1"/>
          <p:nvPr/>
        </p:nvSpPr>
        <p:spPr>
          <a:xfrm>
            <a:off x="859536" y="2084832"/>
            <a:ext cx="213055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EXACT CLASSICAL BASELINE</a:t>
            </a:r>
            <a:endParaRPr lang="en-US" sz="850" dirty="0"/>
          </a:p>
        </p:txBody>
      </p:sp>
      <p:sp>
        <p:nvSpPr>
          <p:cNvPr id="9" name="Text 7"/>
          <p:cNvSpPr txBox="1"/>
          <p:nvPr/>
        </p:nvSpPr>
        <p:spPr>
          <a:xfrm>
            <a:off x="804672" y="2523744"/>
            <a:ext cx="2103120" cy="50292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6D4AFF"/>
                </a:solidFill>
                <a:latin typeface="Inter" pitchFamily="34" charset="0"/>
                <a:ea typeface="Inter" pitchFamily="34" charset="-122"/>
                <a:cs typeface="Inter" pitchFamily="34" charset="-120"/>
              </a:rPr>
              <a:t>7,776</a:t>
            </a:r>
            <a:endParaRPr lang="en-US" sz="3200" dirty="0"/>
          </a:p>
        </p:txBody>
      </p:sp>
      <p:sp>
        <p:nvSpPr>
          <p:cNvPr id="10" name="Text 8"/>
          <p:cNvSpPr txBox="1"/>
          <p:nvPr/>
        </p:nvSpPr>
        <p:spPr>
          <a:xfrm>
            <a:off x="822960" y="3017520"/>
            <a:ext cx="3337560" cy="201168"/>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5D6B84"/>
                </a:solidFill>
                <a:latin typeface="Inter" pitchFamily="34" charset="0"/>
                <a:ea typeface="Inter" pitchFamily="34" charset="-122"/>
                <a:cs typeface="Inter" pitchFamily="34" charset="-120"/>
              </a:rPr>
              <a:t>feasible portfolios checked</a:t>
            </a:r>
            <a:endParaRPr lang="en-US" sz="1050" dirty="0"/>
          </a:p>
        </p:txBody>
      </p:sp>
      <p:sp>
        <p:nvSpPr>
          <p:cNvPr id="11" name="Text 9"/>
          <p:cNvSpPr txBox="1"/>
          <p:nvPr/>
        </p:nvSpPr>
        <p:spPr>
          <a:xfrm>
            <a:off x="822960" y="3447288"/>
            <a:ext cx="210312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02A40"/>
                </a:solidFill>
                <a:latin typeface="Inter" pitchFamily="34" charset="0"/>
                <a:ea typeface="Inter" pitchFamily="34" charset="-122"/>
                <a:cs typeface="Inter" pitchFamily="34" charset="-120"/>
              </a:rPr>
              <a:t>Exact optimum holdings</a:t>
            </a:r>
            <a:endParaRPr lang="en-US" sz="1100" dirty="0"/>
          </a:p>
        </p:txBody>
      </p:sp>
      <p:sp>
        <p:nvSpPr>
          <p:cNvPr id="12" name="Shape 10"/>
          <p:cNvSpPr/>
          <p:nvPr/>
        </p:nvSpPr>
        <p:spPr>
          <a:xfrm>
            <a:off x="832104" y="3813048"/>
            <a:ext cx="512064" cy="365760"/>
          </a:xfrm>
          <a:prstGeom prst="roundRect">
            <a:avLst>
              <a:gd name="adj" fmla="val 30000"/>
            </a:avLst>
          </a:prstGeom>
          <a:solidFill>
            <a:srgbClr val="EFEBFF"/>
          </a:solidFill>
          <a:ln w="7620">
            <a:solidFill>
              <a:srgbClr val="DCD3FF"/>
            </a:solidFill>
            <a:prstDash val="solid"/>
          </a:ln>
        </p:spPr>
        <p:txBody>
          <a:bodyPr/>
          <a:p/>
        </p:txBody>
      </p:sp>
      <p:sp>
        <p:nvSpPr>
          <p:cNvPr id="13" name="Text 11"/>
          <p:cNvSpPr txBox="1"/>
          <p:nvPr/>
        </p:nvSpPr>
        <p:spPr>
          <a:xfrm>
            <a:off x="832104" y="3831336"/>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6D4AFF"/>
                </a:solidFill>
                <a:latin typeface="Inter" pitchFamily="34" charset="0"/>
                <a:ea typeface="Inter" pitchFamily="34" charset="-122"/>
                <a:cs typeface="Inter" pitchFamily="34" charset="-120"/>
              </a:rPr>
              <a:t>S02</a:t>
            </a:r>
            <a:endParaRPr lang="en-US" sz="1050" dirty="0"/>
          </a:p>
        </p:txBody>
      </p:sp>
      <p:sp>
        <p:nvSpPr>
          <p:cNvPr id="14" name="Shape 12"/>
          <p:cNvSpPr/>
          <p:nvPr/>
        </p:nvSpPr>
        <p:spPr>
          <a:xfrm>
            <a:off x="1472184" y="3813048"/>
            <a:ext cx="512064" cy="365760"/>
          </a:xfrm>
          <a:prstGeom prst="roundRect">
            <a:avLst>
              <a:gd name="adj" fmla="val 30000"/>
            </a:avLst>
          </a:prstGeom>
          <a:solidFill>
            <a:srgbClr val="EFEBFF"/>
          </a:solidFill>
          <a:ln w="7620">
            <a:solidFill>
              <a:srgbClr val="DCD3FF"/>
            </a:solidFill>
            <a:prstDash val="solid"/>
          </a:ln>
        </p:spPr>
        <p:txBody>
          <a:bodyPr/>
          <a:p/>
        </p:txBody>
      </p:sp>
      <p:sp>
        <p:nvSpPr>
          <p:cNvPr id="15" name="Text 13"/>
          <p:cNvSpPr txBox="1"/>
          <p:nvPr/>
        </p:nvSpPr>
        <p:spPr>
          <a:xfrm>
            <a:off x="1472184" y="3831336"/>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6D4AFF"/>
                </a:solidFill>
                <a:latin typeface="Inter" pitchFamily="34" charset="0"/>
                <a:ea typeface="Inter" pitchFamily="34" charset="-122"/>
                <a:cs typeface="Inter" pitchFamily="34" charset="-120"/>
              </a:rPr>
              <a:t>S04</a:t>
            </a:r>
            <a:endParaRPr lang="en-US" sz="1050" dirty="0"/>
          </a:p>
        </p:txBody>
      </p:sp>
      <p:sp>
        <p:nvSpPr>
          <p:cNvPr id="16" name="Shape 14"/>
          <p:cNvSpPr/>
          <p:nvPr/>
        </p:nvSpPr>
        <p:spPr>
          <a:xfrm>
            <a:off x="2112264" y="3813048"/>
            <a:ext cx="512064" cy="365760"/>
          </a:xfrm>
          <a:prstGeom prst="roundRect">
            <a:avLst>
              <a:gd name="adj" fmla="val 30000"/>
            </a:avLst>
          </a:prstGeom>
          <a:solidFill>
            <a:srgbClr val="EFEBFF"/>
          </a:solidFill>
          <a:ln w="7620">
            <a:solidFill>
              <a:srgbClr val="DCD3FF"/>
            </a:solidFill>
            <a:prstDash val="solid"/>
          </a:ln>
        </p:spPr>
        <p:txBody>
          <a:bodyPr/>
          <a:p/>
        </p:txBody>
      </p:sp>
      <p:sp>
        <p:nvSpPr>
          <p:cNvPr id="17" name="Text 15"/>
          <p:cNvSpPr txBox="1"/>
          <p:nvPr/>
        </p:nvSpPr>
        <p:spPr>
          <a:xfrm>
            <a:off x="2112264" y="3831336"/>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6D4AFF"/>
                </a:solidFill>
                <a:latin typeface="Inter" pitchFamily="34" charset="0"/>
                <a:ea typeface="Inter" pitchFamily="34" charset="-122"/>
                <a:cs typeface="Inter" pitchFamily="34" charset="-120"/>
              </a:rPr>
              <a:t>S05</a:t>
            </a:r>
            <a:endParaRPr lang="en-US" sz="1050" dirty="0"/>
          </a:p>
        </p:txBody>
      </p:sp>
      <p:sp>
        <p:nvSpPr>
          <p:cNvPr id="18" name="Shape 16"/>
          <p:cNvSpPr/>
          <p:nvPr/>
        </p:nvSpPr>
        <p:spPr>
          <a:xfrm>
            <a:off x="2752344" y="3813048"/>
            <a:ext cx="512064" cy="365760"/>
          </a:xfrm>
          <a:prstGeom prst="roundRect">
            <a:avLst>
              <a:gd name="adj" fmla="val 30000"/>
            </a:avLst>
          </a:prstGeom>
          <a:solidFill>
            <a:srgbClr val="EFEBFF"/>
          </a:solidFill>
          <a:ln w="7620">
            <a:solidFill>
              <a:srgbClr val="DCD3FF"/>
            </a:solidFill>
            <a:prstDash val="solid"/>
          </a:ln>
        </p:spPr>
        <p:txBody>
          <a:bodyPr/>
          <a:p/>
        </p:txBody>
      </p:sp>
      <p:sp>
        <p:nvSpPr>
          <p:cNvPr id="19" name="Text 17"/>
          <p:cNvSpPr txBox="1"/>
          <p:nvPr/>
        </p:nvSpPr>
        <p:spPr>
          <a:xfrm>
            <a:off x="2752344" y="3831336"/>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6D4AFF"/>
                </a:solidFill>
                <a:latin typeface="Inter" pitchFamily="34" charset="0"/>
                <a:ea typeface="Inter" pitchFamily="34" charset="-122"/>
                <a:cs typeface="Inter" pitchFamily="34" charset="-120"/>
              </a:rPr>
              <a:t>S07</a:t>
            </a:r>
            <a:endParaRPr lang="en-US" sz="1050" dirty="0"/>
          </a:p>
        </p:txBody>
      </p:sp>
      <p:sp>
        <p:nvSpPr>
          <p:cNvPr id="20" name="Shape 18"/>
          <p:cNvSpPr/>
          <p:nvPr/>
        </p:nvSpPr>
        <p:spPr>
          <a:xfrm>
            <a:off x="3392424" y="3813048"/>
            <a:ext cx="512064" cy="365760"/>
          </a:xfrm>
          <a:prstGeom prst="roundRect">
            <a:avLst>
              <a:gd name="adj" fmla="val 30000"/>
            </a:avLst>
          </a:prstGeom>
          <a:solidFill>
            <a:srgbClr val="EFEBFF"/>
          </a:solidFill>
          <a:ln w="7620">
            <a:solidFill>
              <a:srgbClr val="DCD3FF"/>
            </a:solidFill>
            <a:prstDash val="solid"/>
          </a:ln>
        </p:spPr>
        <p:txBody>
          <a:bodyPr/>
          <a:p/>
        </p:txBody>
      </p:sp>
      <p:sp>
        <p:nvSpPr>
          <p:cNvPr id="21" name="Text 19"/>
          <p:cNvSpPr txBox="1"/>
          <p:nvPr/>
        </p:nvSpPr>
        <p:spPr>
          <a:xfrm>
            <a:off x="3392424" y="3831336"/>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6D4AFF"/>
                </a:solidFill>
                <a:latin typeface="Inter" pitchFamily="34" charset="0"/>
                <a:ea typeface="Inter" pitchFamily="34" charset="-122"/>
                <a:cs typeface="Inter" pitchFamily="34" charset="-120"/>
              </a:rPr>
              <a:t>S11</a:t>
            </a:r>
            <a:endParaRPr lang="en-US" sz="1050" dirty="0"/>
          </a:p>
        </p:txBody>
      </p:sp>
      <p:sp>
        <p:nvSpPr>
          <p:cNvPr id="22" name="Shape 20"/>
          <p:cNvSpPr/>
          <p:nvPr/>
        </p:nvSpPr>
        <p:spPr>
          <a:xfrm>
            <a:off x="832104" y="4343400"/>
            <a:ext cx="512064" cy="365760"/>
          </a:xfrm>
          <a:prstGeom prst="roundRect">
            <a:avLst>
              <a:gd name="adj" fmla="val 30000"/>
            </a:avLst>
          </a:prstGeom>
          <a:solidFill>
            <a:srgbClr val="E2F8F9"/>
          </a:solidFill>
          <a:ln w="7620">
            <a:solidFill>
              <a:srgbClr val="C9ECEE"/>
            </a:solidFill>
            <a:prstDash val="solid"/>
          </a:ln>
        </p:spPr>
        <p:txBody>
          <a:bodyPr/>
          <a:p/>
        </p:txBody>
      </p:sp>
      <p:sp>
        <p:nvSpPr>
          <p:cNvPr id="23" name="Text 21"/>
          <p:cNvSpPr txBox="1"/>
          <p:nvPr/>
        </p:nvSpPr>
        <p:spPr>
          <a:xfrm>
            <a:off x="832104" y="4361688"/>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14A8B5"/>
                </a:solidFill>
                <a:latin typeface="Inter" pitchFamily="34" charset="0"/>
                <a:ea typeface="Inter" pitchFamily="34" charset="-122"/>
                <a:cs typeface="Inter" pitchFamily="34" charset="-120"/>
              </a:rPr>
              <a:t>S12</a:t>
            </a:r>
            <a:endParaRPr lang="en-US" sz="1050" dirty="0"/>
          </a:p>
        </p:txBody>
      </p:sp>
      <p:sp>
        <p:nvSpPr>
          <p:cNvPr id="24" name="Shape 22"/>
          <p:cNvSpPr/>
          <p:nvPr/>
        </p:nvSpPr>
        <p:spPr>
          <a:xfrm>
            <a:off x="1472184" y="4343400"/>
            <a:ext cx="512064" cy="365760"/>
          </a:xfrm>
          <a:prstGeom prst="roundRect">
            <a:avLst>
              <a:gd name="adj" fmla="val 30000"/>
            </a:avLst>
          </a:prstGeom>
          <a:solidFill>
            <a:srgbClr val="E2F8F9"/>
          </a:solidFill>
          <a:ln w="7620">
            <a:solidFill>
              <a:srgbClr val="C9ECEE"/>
            </a:solidFill>
            <a:prstDash val="solid"/>
          </a:ln>
        </p:spPr>
        <p:txBody>
          <a:bodyPr/>
          <a:p/>
        </p:txBody>
      </p:sp>
      <p:sp>
        <p:nvSpPr>
          <p:cNvPr id="25" name="Text 23"/>
          <p:cNvSpPr txBox="1"/>
          <p:nvPr/>
        </p:nvSpPr>
        <p:spPr>
          <a:xfrm>
            <a:off x="1472184" y="4361688"/>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14A8B5"/>
                </a:solidFill>
                <a:latin typeface="Inter" pitchFamily="34" charset="0"/>
                <a:ea typeface="Inter" pitchFamily="34" charset="-122"/>
                <a:cs typeface="Inter" pitchFamily="34" charset="-120"/>
              </a:rPr>
              <a:t>S13</a:t>
            </a:r>
            <a:endParaRPr lang="en-US" sz="1050" dirty="0"/>
          </a:p>
        </p:txBody>
      </p:sp>
      <p:sp>
        <p:nvSpPr>
          <p:cNvPr id="26" name="Shape 24"/>
          <p:cNvSpPr/>
          <p:nvPr/>
        </p:nvSpPr>
        <p:spPr>
          <a:xfrm>
            <a:off x="2112264" y="4343400"/>
            <a:ext cx="512064" cy="365760"/>
          </a:xfrm>
          <a:prstGeom prst="roundRect">
            <a:avLst>
              <a:gd name="adj" fmla="val 30000"/>
            </a:avLst>
          </a:prstGeom>
          <a:solidFill>
            <a:srgbClr val="E2F8F9"/>
          </a:solidFill>
          <a:ln w="7620">
            <a:solidFill>
              <a:srgbClr val="C9ECEE"/>
            </a:solidFill>
            <a:prstDash val="solid"/>
          </a:ln>
        </p:spPr>
        <p:txBody>
          <a:bodyPr/>
          <a:p/>
        </p:txBody>
      </p:sp>
      <p:sp>
        <p:nvSpPr>
          <p:cNvPr id="27" name="Text 25"/>
          <p:cNvSpPr txBox="1"/>
          <p:nvPr/>
        </p:nvSpPr>
        <p:spPr>
          <a:xfrm>
            <a:off x="2112264" y="4361688"/>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14A8B5"/>
                </a:solidFill>
                <a:latin typeface="Inter" pitchFamily="34" charset="0"/>
                <a:ea typeface="Inter" pitchFamily="34" charset="-122"/>
                <a:cs typeface="Inter" pitchFamily="34" charset="-120"/>
              </a:rPr>
              <a:t>S16</a:t>
            </a:r>
            <a:endParaRPr lang="en-US" sz="1050" dirty="0"/>
          </a:p>
        </p:txBody>
      </p:sp>
      <p:sp>
        <p:nvSpPr>
          <p:cNvPr id="28" name="Shape 26"/>
          <p:cNvSpPr/>
          <p:nvPr/>
        </p:nvSpPr>
        <p:spPr>
          <a:xfrm>
            <a:off x="2752344" y="4343400"/>
            <a:ext cx="512064" cy="365760"/>
          </a:xfrm>
          <a:prstGeom prst="roundRect">
            <a:avLst>
              <a:gd name="adj" fmla="val 30000"/>
            </a:avLst>
          </a:prstGeom>
          <a:solidFill>
            <a:srgbClr val="E2F8F9"/>
          </a:solidFill>
          <a:ln w="7620">
            <a:solidFill>
              <a:srgbClr val="C9ECEE"/>
            </a:solidFill>
            <a:prstDash val="solid"/>
          </a:ln>
        </p:spPr>
        <p:txBody>
          <a:bodyPr/>
          <a:p/>
        </p:txBody>
      </p:sp>
      <p:sp>
        <p:nvSpPr>
          <p:cNvPr id="29" name="Text 27"/>
          <p:cNvSpPr txBox="1"/>
          <p:nvPr/>
        </p:nvSpPr>
        <p:spPr>
          <a:xfrm>
            <a:off x="2752344" y="4361688"/>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14A8B5"/>
                </a:solidFill>
                <a:latin typeface="Inter" pitchFamily="34" charset="0"/>
                <a:ea typeface="Inter" pitchFamily="34" charset="-122"/>
                <a:cs typeface="Inter" pitchFamily="34" charset="-120"/>
              </a:rPr>
              <a:t>S18</a:t>
            </a:r>
            <a:endParaRPr lang="en-US" sz="1050" dirty="0"/>
          </a:p>
        </p:txBody>
      </p:sp>
      <p:sp>
        <p:nvSpPr>
          <p:cNvPr id="30" name="Shape 28"/>
          <p:cNvSpPr/>
          <p:nvPr/>
        </p:nvSpPr>
        <p:spPr>
          <a:xfrm>
            <a:off x="3392424" y="4343400"/>
            <a:ext cx="512064" cy="365760"/>
          </a:xfrm>
          <a:prstGeom prst="roundRect">
            <a:avLst>
              <a:gd name="adj" fmla="val 30000"/>
            </a:avLst>
          </a:prstGeom>
          <a:solidFill>
            <a:srgbClr val="E2F8F9"/>
          </a:solidFill>
          <a:ln w="7620">
            <a:solidFill>
              <a:srgbClr val="C9ECEE"/>
            </a:solidFill>
            <a:prstDash val="solid"/>
          </a:ln>
        </p:spPr>
        <p:txBody>
          <a:bodyPr/>
          <a:p/>
        </p:txBody>
      </p:sp>
      <p:sp>
        <p:nvSpPr>
          <p:cNvPr id="31" name="Text 29"/>
          <p:cNvSpPr txBox="1"/>
          <p:nvPr/>
        </p:nvSpPr>
        <p:spPr>
          <a:xfrm>
            <a:off x="3392424" y="4361688"/>
            <a:ext cx="512064" cy="310896"/>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14A8B5"/>
                </a:solidFill>
                <a:latin typeface="Inter" pitchFamily="34" charset="0"/>
                <a:ea typeface="Inter" pitchFamily="34" charset="-122"/>
                <a:cs typeface="Inter" pitchFamily="34" charset="-120"/>
              </a:rPr>
              <a:t>S20</a:t>
            </a:r>
            <a:endParaRPr lang="en-US" sz="1050" dirty="0"/>
          </a:p>
        </p:txBody>
      </p:sp>
      <p:sp>
        <p:nvSpPr>
          <p:cNvPr id="32" name="Text 30"/>
          <p:cNvSpPr txBox="1"/>
          <p:nvPr/>
        </p:nvSpPr>
        <p:spPr>
          <a:xfrm>
            <a:off x="832104" y="4910328"/>
            <a:ext cx="2194560" cy="22860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0172A"/>
                </a:solidFill>
                <a:latin typeface="Inter" pitchFamily="34" charset="0"/>
                <a:ea typeface="Inter" pitchFamily="34" charset="-122"/>
                <a:cs typeface="Inter" pitchFamily="34" charset="-120"/>
              </a:rPr>
              <a:t>Cost  −1.111739</a:t>
            </a:r>
            <a:endParaRPr lang="en-US" sz="1500" dirty="0"/>
          </a:p>
        </p:txBody>
      </p:sp>
      <p:sp>
        <p:nvSpPr>
          <p:cNvPr id="33" name="Text 31"/>
          <p:cNvSpPr txBox="1"/>
          <p:nvPr/>
        </p:nvSpPr>
        <p:spPr>
          <a:xfrm>
            <a:off x="832104" y="5184648"/>
            <a:ext cx="3429000" cy="164592"/>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Return score 1.736840  ·  Risk 1.250202</a:t>
            </a:r>
            <a:endParaRPr lang="en-US" sz="940" dirty="0"/>
          </a:p>
        </p:txBody>
      </p:sp>
      <p:sp>
        <p:nvSpPr>
          <p:cNvPr id="34" name="Shape 32"/>
          <p:cNvSpPr/>
          <p:nvPr/>
        </p:nvSpPr>
        <p:spPr>
          <a:xfrm>
            <a:off x="5715000" y="1856232"/>
            <a:ext cx="5879592" cy="2029968"/>
          </a:xfrm>
          <a:prstGeom prst="roundRect">
            <a:avLst>
              <a:gd name="adj" fmla="val 6306"/>
            </a:avLst>
          </a:prstGeom>
          <a:solidFill>
            <a:srgbClr val="10172A"/>
          </a:solidFill>
          <a:ln w="10160">
            <a:solidFill>
              <a:srgbClr val="10172A"/>
            </a:solidFill>
            <a:prstDash val="solid"/>
          </a:ln>
        </p:spPr>
        <p:txBody>
          <a:bodyPr/>
          <a:p/>
        </p:txBody>
      </p:sp>
      <p:sp>
        <p:nvSpPr>
          <p:cNvPr id="35" name="Shape 33"/>
          <p:cNvSpPr/>
          <p:nvPr/>
        </p:nvSpPr>
        <p:spPr>
          <a:xfrm>
            <a:off x="5989320" y="2093976"/>
            <a:ext cx="1572768" cy="274320"/>
          </a:xfrm>
          <a:prstGeom prst="roundRect">
            <a:avLst>
              <a:gd name="adj" fmla="val 50000"/>
            </a:avLst>
          </a:prstGeom>
          <a:solidFill>
            <a:srgbClr val="2B3551"/>
          </a:solidFill>
          <a:ln w="12700">
            <a:solidFill>
              <a:srgbClr val="2B3551">
                <a:alpha val="0"/>
              </a:srgbClr>
            </a:solidFill>
            <a:prstDash val="solid"/>
          </a:ln>
        </p:spPr>
        <p:txBody>
          <a:bodyPr/>
          <a:p/>
        </p:txBody>
      </p:sp>
      <p:sp>
        <p:nvSpPr>
          <p:cNvPr id="36" name="Text 34"/>
          <p:cNvSpPr txBox="1"/>
          <p:nvPr/>
        </p:nvSpPr>
        <p:spPr>
          <a:xfrm>
            <a:off x="6044184" y="2103120"/>
            <a:ext cx="1463040"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D9E2FF"/>
                </a:solidFill>
                <a:latin typeface="Inter" pitchFamily="34" charset="0"/>
                <a:ea typeface="Inter" pitchFamily="34" charset="-122"/>
                <a:cs typeface="Inter" pitchFamily="34" charset="-120"/>
              </a:rPr>
              <a:t>QAOA SIMULATOR</a:t>
            </a:r>
            <a:endParaRPr lang="en-US" sz="850" dirty="0"/>
          </a:p>
        </p:txBody>
      </p:sp>
      <p:sp>
        <p:nvSpPr>
          <p:cNvPr id="37" name="Shape 35"/>
          <p:cNvSpPr/>
          <p:nvPr/>
        </p:nvSpPr>
        <p:spPr>
          <a:xfrm>
            <a:off x="5989320" y="2542032"/>
            <a:ext cx="1664208" cy="987552"/>
          </a:xfrm>
          <a:prstGeom prst="roundRect">
            <a:avLst>
              <a:gd name="adj" fmla="val 12963"/>
            </a:avLst>
          </a:prstGeom>
          <a:solidFill>
            <a:srgbClr val="FFFFFF"/>
          </a:solidFill>
          <a:ln w="10160">
            <a:solidFill>
              <a:srgbClr val="DEE5F0"/>
            </a:solidFill>
            <a:prstDash val="solid"/>
          </a:ln>
        </p:spPr>
        <p:txBody>
          <a:bodyPr/>
          <a:p/>
        </p:txBody>
      </p:sp>
      <p:sp>
        <p:nvSpPr>
          <p:cNvPr id="38" name="Shape 36"/>
          <p:cNvSpPr/>
          <p:nvPr/>
        </p:nvSpPr>
        <p:spPr>
          <a:xfrm>
            <a:off x="5989320" y="2542032"/>
            <a:ext cx="54864" cy="987552"/>
          </a:xfrm>
          <a:prstGeom prst="rect">
            <a:avLst/>
          </a:prstGeom>
          <a:solidFill>
            <a:srgbClr val="14A8B5"/>
          </a:solidFill>
          <a:ln w="12700">
            <a:solidFill>
              <a:srgbClr val="14A8B5">
                <a:alpha val="0"/>
              </a:srgbClr>
            </a:solidFill>
            <a:prstDash val="solid"/>
          </a:ln>
        </p:spPr>
        <p:txBody>
          <a:bodyPr/>
          <a:p/>
        </p:txBody>
      </p:sp>
      <p:sp>
        <p:nvSpPr>
          <p:cNvPr id="39" name="Text 37"/>
          <p:cNvSpPr txBox="1"/>
          <p:nvPr/>
        </p:nvSpPr>
        <p:spPr>
          <a:xfrm>
            <a:off x="6172200" y="2660904"/>
            <a:ext cx="1371600" cy="384048"/>
          </a:xfrm>
          <a:prstGeom prst="rect">
            <a:avLst/>
          </a:prstGeom>
          <a:noFill/>
          <a:ln/>
        </p:spPr>
        <p:txBody>
          <a:bodyPr wrap="square" lIns="0" tIns="0" rIns="0" bIns="0" rtlCol="0" anchor="ctr">
            <a:normAutofit/>
          </a:bodyPr>
          <a:lstStyle/>
          <a:p>
            <a:pPr algn="l" indent="0" marL="0">
              <a:lnSpc>
                <a:spcPct val="100000"/>
              </a:lnSpc>
              <a:buNone/>
            </a:pPr>
            <a:r>
              <a:rPr lang="en-US" sz="2300" b="1" dirty="0">
                <a:solidFill>
                  <a:srgbClr val="14A8B5"/>
                </a:solidFill>
                <a:latin typeface="Inter" pitchFamily="34" charset="0"/>
                <a:ea typeface="Inter" pitchFamily="34" charset="-122"/>
                <a:cs typeface="Inter" pitchFamily="34" charset="-120"/>
              </a:rPr>
              <a:t>10.30%</a:t>
            </a:r>
            <a:endParaRPr lang="en-US" sz="2300" dirty="0"/>
          </a:p>
        </p:txBody>
      </p:sp>
      <p:sp>
        <p:nvSpPr>
          <p:cNvPr id="40" name="Text 38"/>
          <p:cNvSpPr txBox="1"/>
          <p:nvPr/>
        </p:nvSpPr>
        <p:spPr>
          <a:xfrm>
            <a:off x="6172200" y="3063240"/>
            <a:ext cx="1371600" cy="32004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202A40"/>
                </a:solidFill>
                <a:latin typeface="Inter" pitchFamily="34" charset="0"/>
                <a:ea typeface="Inter" pitchFamily="34" charset="-122"/>
                <a:cs typeface="Inter" pitchFamily="34" charset="-120"/>
              </a:rPr>
              <a:t>valid samples</a:t>
            </a:r>
            <a:endParaRPr lang="en-US" sz="1040" dirty="0"/>
          </a:p>
        </p:txBody>
      </p:sp>
      <p:sp>
        <p:nvSpPr>
          <p:cNvPr id="41" name="Shape 39"/>
          <p:cNvSpPr/>
          <p:nvPr/>
        </p:nvSpPr>
        <p:spPr>
          <a:xfrm>
            <a:off x="7790688" y="2542032"/>
            <a:ext cx="1664208" cy="987552"/>
          </a:xfrm>
          <a:prstGeom prst="roundRect">
            <a:avLst>
              <a:gd name="adj" fmla="val 12963"/>
            </a:avLst>
          </a:prstGeom>
          <a:solidFill>
            <a:srgbClr val="FFFFFF"/>
          </a:solidFill>
          <a:ln w="10160">
            <a:solidFill>
              <a:srgbClr val="DEE5F0"/>
            </a:solidFill>
            <a:prstDash val="solid"/>
          </a:ln>
        </p:spPr>
        <p:txBody>
          <a:bodyPr/>
          <a:p/>
        </p:txBody>
      </p:sp>
      <p:sp>
        <p:nvSpPr>
          <p:cNvPr id="42" name="Shape 40"/>
          <p:cNvSpPr/>
          <p:nvPr/>
        </p:nvSpPr>
        <p:spPr>
          <a:xfrm>
            <a:off x="7790688" y="2542032"/>
            <a:ext cx="54864" cy="987552"/>
          </a:xfrm>
          <a:prstGeom prst="rect">
            <a:avLst/>
          </a:prstGeom>
          <a:solidFill>
            <a:srgbClr val="F4B942"/>
          </a:solidFill>
          <a:ln w="12700">
            <a:solidFill>
              <a:srgbClr val="F4B942">
                <a:alpha val="0"/>
              </a:srgbClr>
            </a:solidFill>
            <a:prstDash val="solid"/>
          </a:ln>
        </p:spPr>
        <p:txBody>
          <a:bodyPr/>
          <a:p/>
        </p:txBody>
      </p:sp>
      <p:sp>
        <p:nvSpPr>
          <p:cNvPr id="43" name="Text 41"/>
          <p:cNvSpPr txBox="1"/>
          <p:nvPr/>
        </p:nvSpPr>
        <p:spPr>
          <a:xfrm>
            <a:off x="7973568" y="2660904"/>
            <a:ext cx="1371600" cy="384048"/>
          </a:xfrm>
          <a:prstGeom prst="rect">
            <a:avLst/>
          </a:prstGeom>
          <a:noFill/>
          <a:ln/>
        </p:spPr>
        <p:txBody>
          <a:bodyPr wrap="square" lIns="0" tIns="0" rIns="0" bIns="0" rtlCol="0" anchor="ctr">
            <a:normAutofit/>
          </a:bodyPr>
          <a:lstStyle/>
          <a:p>
            <a:pPr algn="l" indent="0" marL="0">
              <a:lnSpc>
                <a:spcPct val="100000"/>
              </a:lnSpc>
              <a:buNone/>
            </a:pPr>
            <a:r>
              <a:rPr lang="en-US" sz="2300" b="1" dirty="0">
                <a:solidFill>
                  <a:srgbClr val="F4B942"/>
                </a:solidFill>
                <a:latin typeface="Inter" pitchFamily="34" charset="0"/>
                <a:ea typeface="Inter" pitchFamily="34" charset="-122"/>
                <a:cs typeface="Inter" pitchFamily="34" charset="-120"/>
              </a:rPr>
              <a:t>1 / 4,096</a:t>
            </a:r>
            <a:endParaRPr lang="en-US" sz="2300" dirty="0"/>
          </a:p>
        </p:txBody>
      </p:sp>
      <p:sp>
        <p:nvSpPr>
          <p:cNvPr id="44" name="Text 42"/>
          <p:cNvSpPr txBox="1"/>
          <p:nvPr/>
        </p:nvSpPr>
        <p:spPr>
          <a:xfrm>
            <a:off x="7973568" y="3063240"/>
            <a:ext cx="1371600" cy="32004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202A40"/>
                </a:solidFill>
                <a:latin typeface="Inter" pitchFamily="34" charset="0"/>
                <a:ea typeface="Inter" pitchFamily="34" charset="-122"/>
                <a:cs typeface="Inter" pitchFamily="34" charset="-120"/>
              </a:rPr>
              <a:t>exact optimum hit</a:t>
            </a:r>
            <a:endParaRPr lang="en-US" sz="1040" dirty="0"/>
          </a:p>
        </p:txBody>
      </p:sp>
      <p:sp>
        <p:nvSpPr>
          <p:cNvPr id="45" name="Shape 43"/>
          <p:cNvSpPr/>
          <p:nvPr/>
        </p:nvSpPr>
        <p:spPr>
          <a:xfrm>
            <a:off x="9582912" y="2542032"/>
            <a:ext cx="1719072" cy="987552"/>
          </a:xfrm>
          <a:prstGeom prst="roundRect">
            <a:avLst>
              <a:gd name="adj" fmla="val 12963"/>
            </a:avLst>
          </a:prstGeom>
          <a:solidFill>
            <a:srgbClr val="FFFFFF"/>
          </a:solidFill>
          <a:ln w="10160">
            <a:solidFill>
              <a:srgbClr val="DEE5F0"/>
            </a:solidFill>
            <a:prstDash val="solid"/>
          </a:ln>
        </p:spPr>
        <p:txBody>
          <a:bodyPr/>
          <a:p/>
        </p:txBody>
      </p:sp>
      <p:sp>
        <p:nvSpPr>
          <p:cNvPr id="46" name="Shape 44"/>
          <p:cNvSpPr/>
          <p:nvPr/>
        </p:nvSpPr>
        <p:spPr>
          <a:xfrm>
            <a:off x="9582912" y="2542032"/>
            <a:ext cx="54864" cy="987552"/>
          </a:xfrm>
          <a:prstGeom prst="rect">
            <a:avLst/>
          </a:prstGeom>
          <a:solidFill>
            <a:srgbClr val="20B892"/>
          </a:solidFill>
          <a:ln w="12700">
            <a:solidFill>
              <a:srgbClr val="20B892">
                <a:alpha val="0"/>
              </a:srgbClr>
            </a:solidFill>
            <a:prstDash val="solid"/>
          </a:ln>
        </p:spPr>
        <p:txBody>
          <a:bodyPr/>
          <a:p/>
        </p:txBody>
      </p:sp>
      <p:sp>
        <p:nvSpPr>
          <p:cNvPr id="47" name="Text 45"/>
          <p:cNvSpPr txBox="1"/>
          <p:nvPr/>
        </p:nvSpPr>
        <p:spPr>
          <a:xfrm>
            <a:off x="9765792" y="2660904"/>
            <a:ext cx="1426464" cy="384048"/>
          </a:xfrm>
          <a:prstGeom prst="rect">
            <a:avLst/>
          </a:prstGeom>
          <a:noFill/>
          <a:ln/>
        </p:spPr>
        <p:txBody>
          <a:bodyPr wrap="square" lIns="0" tIns="0" rIns="0" bIns="0" rtlCol="0" anchor="ctr">
            <a:normAutofit/>
          </a:bodyPr>
          <a:lstStyle/>
          <a:p>
            <a:pPr algn="l" indent="0" marL="0">
              <a:lnSpc>
                <a:spcPct val="100000"/>
              </a:lnSpc>
              <a:buNone/>
            </a:pPr>
            <a:r>
              <a:rPr lang="en-US" sz="2300" b="1" dirty="0">
                <a:solidFill>
                  <a:srgbClr val="20B892"/>
                </a:solidFill>
                <a:latin typeface="Inter" pitchFamily="34" charset="0"/>
                <a:ea typeface="Inter" pitchFamily="34" charset="-122"/>
                <a:cs typeface="Inter" pitchFamily="34" charset="-120"/>
              </a:rPr>
              <a:t>0.000000</a:t>
            </a:r>
            <a:endParaRPr lang="en-US" sz="2300" dirty="0"/>
          </a:p>
        </p:txBody>
      </p:sp>
      <p:sp>
        <p:nvSpPr>
          <p:cNvPr id="48" name="Text 46"/>
          <p:cNvSpPr txBox="1"/>
          <p:nvPr/>
        </p:nvSpPr>
        <p:spPr>
          <a:xfrm>
            <a:off x="9765792" y="3063240"/>
            <a:ext cx="1426464" cy="320040"/>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202A40"/>
                </a:solidFill>
                <a:latin typeface="Inter" pitchFamily="34" charset="0"/>
                <a:ea typeface="Inter" pitchFamily="34" charset="-122"/>
                <a:cs typeface="Inter" pitchFamily="34" charset="-120"/>
              </a:rPr>
              <a:t>best-sample cost gap</a:t>
            </a:r>
            <a:endParaRPr lang="en-US" sz="1040" dirty="0"/>
          </a:p>
        </p:txBody>
      </p:sp>
      <p:sp>
        <p:nvSpPr>
          <p:cNvPr id="49" name="Shape 47"/>
          <p:cNvSpPr/>
          <p:nvPr/>
        </p:nvSpPr>
        <p:spPr>
          <a:xfrm>
            <a:off x="5715000" y="4096512"/>
            <a:ext cx="5879592" cy="1389888"/>
          </a:xfrm>
          <a:prstGeom prst="roundRect">
            <a:avLst>
              <a:gd name="adj" fmla="val 9211"/>
            </a:avLst>
          </a:prstGeom>
          <a:solidFill>
            <a:srgbClr val="FFF3D6"/>
          </a:solidFill>
          <a:ln w="10160">
            <a:solidFill>
              <a:srgbClr val="F3E4B9"/>
            </a:solidFill>
            <a:prstDash val="solid"/>
          </a:ln>
        </p:spPr>
        <p:txBody>
          <a:bodyPr/>
          <a:p/>
        </p:txBody>
      </p:sp>
      <p:sp>
        <p:nvSpPr>
          <p:cNvPr id="50" name="Text 48"/>
          <p:cNvSpPr txBox="1"/>
          <p:nvPr/>
        </p:nvSpPr>
        <p:spPr>
          <a:xfrm>
            <a:off x="5980176" y="4315968"/>
            <a:ext cx="2377440" cy="237744"/>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Encoding + circuit facts</a:t>
            </a:r>
            <a:endParaRPr lang="en-US" sz="1200" dirty="0"/>
          </a:p>
        </p:txBody>
      </p:sp>
      <p:sp>
        <p:nvSpPr>
          <p:cNvPr id="51" name="Text 49"/>
          <p:cNvSpPr txBox="1"/>
          <p:nvPr/>
        </p:nvSpPr>
        <p:spPr>
          <a:xfrm>
            <a:off x="5980176" y="4672584"/>
            <a:ext cx="5074920" cy="228600"/>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8F6200"/>
                </a:solidFill>
                <a:latin typeface="Inter" pitchFamily="34" charset="0"/>
                <a:ea typeface="Inter" pitchFamily="34" charset="-122"/>
                <a:cs typeface="Inter" pitchFamily="34" charset="-120"/>
              </a:rPr>
              <a:t>20 logical qubits  ·  211 Pauli terms  ·  p = 1</a:t>
            </a:r>
            <a:endParaRPr lang="en-US" sz="1100" dirty="0"/>
          </a:p>
        </p:txBody>
      </p:sp>
      <p:sp>
        <p:nvSpPr>
          <p:cNvPr id="52" name="Text 50"/>
          <p:cNvSpPr txBox="1"/>
          <p:nvPr/>
        </p:nvSpPr>
        <p:spPr>
          <a:xfrm>
            <a:off x="5980176" y="5001768"/>
            <a:ext cx="5120640" cy="393192"/>
          </a:xfrm>
          <a:prstGeom prst="rect">
            <a:avLst/>
          </a:prstGeom>
          <a:noFill/>
          <a:ln/>
        </p:spPr>
        <p:txBody>
          <a:bodyPr wrap="square" lIns="0" tIns="0" rIns="0" bIns="0" rtlCol="0" anchor="t">
            <a:normAutofit/>
          </a:bodyPr>
          <a:lstStyle/>
          <a:p>
            <a:pPr algn="l" indent="0" marL="0">
              <a:lnSpc>
                <a:spcPct val="100000"/>
              </a:lnSpc>
              <a:buNone/>
            </a:pPr>
            <a:r>
              <a:rPr lang="en-US" sz="890" dirty="0">
                <a:solidFill>
                  <a:srgbClr val="5D6B84"/>
                </a:solidFill>
                <a:latin typeface="Inter" pitchFamily="34" charset="0"/>
                <a:ea typeface="Inter" pitchFamily="34" charset="-122"/>
                <a:cs typeface="Inter" pitchFamily="34" charset="-120"/>
              </a:rPr>
              <a:t>Hamiltonian check: max error 5.116 × 10⁻¹³ on 101 bitstrings. Pilot search stopped at 20 evaluations; convergence was not established.</a:t>
            </a:r>
            <a:endParaRPr lang="en-US" sz="890" dirty="0"/>
          </a:p>
        </p:txBody>
      </p:sp>
      <p:sp>
        <p:nvSpPr>
          <p:cNvPr id="53" name="Text 51"/>
          <p:cNvSpPr txBox="1"/>
          <p:nvPr/>
        </p:nvSpPr>
        <p:spPr>
          <a:xfrm>
            <a:off x="621792" y="5806440"/>
            <a:ext cx="10972800" cy="228600"/>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5D6B84"/>
                </a:solidFill>
                <a:latin typeface="Inter" pitchFamily="34" charset="0"/>
                <a:ea typeface="Inter" pitchFamily="34" charset="-122"/>
                <a:cs typeface="Inter" pitchFamily="34" charset="-120"/>
              </a:rPr>
              <a:t>Sector rule: exactly two stocks from each of five sectors, implied by choosing 10 with a maximum of two per sector.</a:t>
            </a:r>
            <a:endParaRPr lang="en-US" sz="93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84048"/>
            <a:ext cx="141732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3075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REAL HARDWARE</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Feasible sampling varied across our hardware experiments</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These are different experiments, not a controlled apples-to-apples benchmark.</a:t>
            </a:r>
            <a:endParaRPr lang="en-US" sz="1220" dirty="0"/>
          </a:p>
        </p:txBody>
      </p:sp>
      <p:sp>
        <p:nvSpPr>
          <p:cNvPr id="6" name="Shape 4"/>
          <p:cNvSpPr/>
          <p:nvPr/>
        </p:nvSpPr>
        <p:spPr>
          <a:xfrm>
            <a:off x="566928" y="1856232"/>
            <a:ext cx="3474720" cy="3511296"/>
          </a:xfrm>
          <a:prstGeom prst="roundRect">
            <a:avLst>
              <a:gd name="adj" fmla="val 3684"/>
            </a:avLst>
          </a:prstGeom>
          <a:solidFill>
            <a:srgbClr val="FFFFFF"/>
          </a:solidFill>
          <a:ln w="10160">
            <a:solidFill>
              <a:srgbClr val="DEE5F0"/>
            </a:solidFill>
            <a:prstDash val="solid"/>
          </a:ln>
        </p:spPr>
        <p:txBody>
          <a:bodyPr/>
          <a:p/>
        </p:txBody>
      </p:sp>
      <p:sp>
        <p:nvSpPr>
          <p:cNvPr id="7" name="Shape 5"/>
          <p:cNvSpPr/>
          <p:nvPr/>
        </p:nvSpPr>
        <p:spPr>
          <a:xfrm>
            <a:off x="566928" y="1856232"/>
            <a:ext cx="3474720" cy="64008"/>
          </a:xfrm>
          <a:prstGeom prst="rect">
            <a:avLst/>
          </a:prstGeom>
          <a:solidFill>
            <a:srgbClr val="14A8B5"/>
          </a:solidFill>
          <a:ln w="12700">
            <a:solidFill>
              <a:srgbClr val="14A8B5"/>
            </a:solidFill>
            <a:prstDash val="solid"/>
          </a:ln>
        </p:spPr>
        <p:txBody>
          <a:bodyPr/>
          <a:p/>
        </p:txBody>
      </p:sp>
      <p:sp>
        <p:nvSpPr>
          <p:cNvPr id="8" name="Shape 6"/>
          <p:cNvSpPr/>
          <p:nvPr/>
        </p:nvSpPr>
        <p:spPr>
          <a:xfrm>
            <a:off x="768096" y="2075688"/>
            <a:ext cx="1207008" cy="274320"/>
          </a:xfrm>
          <a:prstGeom prst="roundRect">
            <a:avLst>
              <a:gd name="adj" fmla="val 50000"/>
            </a:avLst>
          </a:prstGeom>
          <a:solidFill>
            <a:srgbClr val="E2F8F9"/>
          </a:solidFill>
          <a:ln w="12700">
            <a:solidFill>
              <a:srgbClr val="E2F8F9">
                <a:alpha val="0"/>
              </a:srgbClr>
            </a:solidFill>
            <a:prstDash val="solid"/>
          </a:ln>
        </p:spPr>
        <p:txBody>
          <a:bodyPr/>
          <a:p/>
        </p:txBody>
      </p:sp>
      <p:sp>
        <p:nvSpPr>
          <p:cNvPr id="9" name="Text 7"/>
          <p:cNvSpPr txBox="1"/>
          <p:nvPr/>
        </p:nvSpPr>
        <p:spPr>
          <a:xfrm>
            <a:off x="822960" y="2084832"/>
            <a:ext cx="1097280"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14A8B5"/>
                </a:solidFill>
                <a:latin typeface="Inter" pitchFamily="34" charset="0"/>
                <a:ea typeface="Inter" pitchFamily="34" charset="-122"/>
                <a:cs typeface="Inter" pitchFamily="34" charset="-120"/>
              </a:rPr>
              <a:t>6 logical qubits</a:t>
            </a:r>
            <a:endParaRPr lang="en-US" sz="850" dirty="0"/>
          </a:p>
        </p:txBody>
      </p:sp>
      <p:sp>
        <p:nvSpPr>
          <p:cNvPr id="10" name="Text 8"/>
          <p:cNvSpPr txBox="1"/>
          <p:nvPr/>
        </p:nvSpPr>
        <p:spPr>
          <a:xfrm>
            <a:off x="768096" y="2505456"/>
            <a:ext cx="3063240" cy="256032"/>
          </a:xfrm>
          <a:prstGeom prst="rect">
            <a:avLst/>
          </a:prstGeom>
          <a:noFill/>
          <a:ln/>
        </p:spPr>
        <p:txBody>
          <a:bodyPr wrap="square" lIns="0" tIns="0" rIns="0" bIns="0" rtlCol="0" anchor="ctr">
            <a:normAutofit/>
          </a:bodyPr>
          <a:lstStyle/>
          <a:p>
            <a:pPr algn="l" indent="0" marL="0">
              <a:lnSpc>
                <a:spcPct val="100000"/>
              </a:lnSpc>
              <a:buNone/>
            </a:pPr>
            <a:r>
              <a:rPr lang="en-US" sz="1100" b="1" spc="40" kern="0" dirty="0">
                <a:solidFill>
                  <a:srgbClr val="202A40"/>
                </a:solidFill>
                <a:latin typeface="Inter" pitchFamily="34" charset="0"/>
                <a:ea typeface="Inter" pitchFamily="34" charset="-122"/>
                <a:cs typeface="Inter" pitchFamily="34" charset="-120"/>
              </a:rPr>
              <a:t>BEGINNER QAOA</a:t>
            </a:r>
            <a:endParaRPr lang="en-US" sz="1100" dirty="0"/>
          </a:p>
        </p:txBody>
      </p:sp>
      <p:sp>
        <p:nvSpPr>
          <p:cNvPr id="11" name="Text 9"/>
          <p:cNvSpPr txBox="1"/>
          <p:nvPr/>
        </p:nvSpPr>
        <p:spPr>
          <a:xfrm>
            <a:off x="768096" y="2916936"/>
            <a:ext cx="3063240" cy="512064"/>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14A8B5"/>
                </a:solidFill>
                <a:latin typeface="Inter" pitchFamily="34" charset="0"/>
                <a:ea typeface="Inter" pitchFamily="34" charset="-122"/>
                <a:cs typeface="Inter" pitchFamily="34" charset="-120"/>
              </a:rPr>
              <a:t>59.47%</a:t>
            </a:r>
            <a:endParaRPr lang="en-US" sz="3100" dirty="0"/>
          </a:p>
        </p:txBody>
      </p:sp>
      <p:sp>
        <p:nvSpPr>
          <p:cNvPr id="12" name="Text 10"/>
          <p:cNvSpPr txBox="1"/>
          <p:nvPr/>
        </p:nvSpPr>
        <p:spPr>
          <a:xfrm>
            <a:off x="777240" y="3465576"/>
            <a:ext cx="3054096" cy="228600"/>
          </a:xfrm>
          <a:prstGeom prst="rect">
            <a:avLst/>
          </a:prstGeom>
          <a:noFill/>
          <a:ln/>
        </p:spPr>
        <p:txBody>
          <a:bodyPr wrap="square" lIns="0" tIns="0" rIns="0" bIns="0" rtlCol="0" anchor="ctr">
            <a:normAutofit/>
          </a:bodyPr>
          <a:lstStyle/>
          <a:p>
            <a:pPr algn="l" indent="0" marL="0">
              <a:lnSpc>
                <a:spcPct val="100000"/>
              </a:lnSpc>
              <a:buNone/>
            </a:pPr>
            <a:r>
              <a:rPr lang="en-US" sz="1070" b="1" dirty="0">
                <a:solidFill>
                  <a:srgbClr val="202A40"/>
                </a:solidFill>
                <a:latin typeface="Inter" pitchFamily="34" charset="0"/>
                <a:ea typeface="Inter" pitchFamily="34" charset="-122"/>
                <a:cs typeface="Inter" pitchFamily="34" charset="-120"/>
              </a:rPr>
              <a:t>valid portfolio samples</a:t>
            </a:r>
            <a:endParaRPr lang="en-US" sz="1070" dirty="0"/>
          </a:p>
        </p:txBody>
      </p:sp>
      <p:sp>
        <p:nvSpPr>
          <p:cNvPr id="13" name="Text 11"/>
          <p:cNvSpPr txBox="1"/>
          <p:nvPr/>
        </p:nvSpPr>
        <p:spPr>
          <a:xfrm>
            <a:off x="777240" y="3803904"/>
            <a:ext cx="3054096" cy="228600"/>
          </a:xfrm>
          <a:prstGeom prst="rect">
            <a:avLst/>
          </a:prstGeom>
          <a:noFill/>
          <a:ln/>
        </p:spPr>
        <p:txBody>
          <a:bodyPr wrap="square" lIns="0" tIns="0" rIns="0" bIns="0" rtlCol="0" anchor="ctr">
            <a:normAutofit/>
          </a:bodyPr>
          <a:lstStyle/>
          <a:p>
            <a:pPr algn="l" indent="0" marL="0">
              <a:lnSpc>
                <a:spcPct val="100000"/>
              </a:lnSpc>
              <a:buNone/>
            </a:pPr>
            <a:r>
              <a:rPr lang="en-US" sz="980" dirty="0">
                <a:solidFill>
                  <a:srgbClr val="5D6B84"/>
                </a:solidFill>
                <a:latin typeface="Inter" pitchFamily="34" charset="0"/>
                <a:ea typeface="Inter" pitchFamily="34" charset="-122"/>
                <a:cs typeface="Inter" pitchFamily="34" charset="-120"/>
              </a:rPr>
              <a:t>609 / 1,024 shots</a:t>
            </a:r>
            <a:endParaRPr lang="en-US" sz="980" dirty="0"/>
          </a:p>
        </p:txBody>
      </p:sp>
      <p:sp>
        <p:nvSpPr>
          <p:cNvPr id="14" name="Shape 12"/>
          <p:cNvSpPr/>
          <p:nvPr/>
        </p:nvSpPr>
        <p:spPr>
          <a:xfrm>
            <a:off x="777240" y="4206240"/>
            <a:ext cx="3054096" cy="0"/>
          </a:xfrm>
          <a:prstGeom prst="line">
            <a:avLst/>
          </a:prstGeom>
          <a:noFill/>
          <a:ln w="10160">
            <a:solidFill>
              <a:srgbClr val="E3E9F2"/>
            </a:solidFill>
            <a:prstDash val="solid"/>
            <a:headEnd type="none"/>
            <a:tailEnd type="none"/>
          </a:ln>
        </p:spPr>
        <p:txBody>
          <a:bodyPr/>
          <a:p/>
        </p:txBody>
      </p:sp>
      <p:sp>
        <p:nvSpPr>
          <p:cNvPr id="15" name="Text 13"/>
          <p:cNvSpPr txBox="1"/>
          <p:nvPr/>
        </p:nvSpPr>
        <p:spPr>
          <a:xfrm>
            <a:off x="777240" y="4398264"/>
            <a:ext cx="3063240" cy="667512"/>
          </a:xfrm>
          <a:prstGeom prst="rect">
            <a:avLst/>
          </a:prstGeom>
          <a:noFill/>
          <a:ln/>
        </p:spPr>
        <p:txBody>
          <a:bodyPr wrap="square" lIns="0" tIns="0" rIns="0" bIns="0" rtlCol="0" anchor="t">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Exact optimum observed 29 times</a:t>
            </a:r>
            <a:endParaRPr lang="en-US" sz="940" dirty="0"/>
          </a:p>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Best valid sample matched classical optimum.</a:t>
            </a:r>
            <a:endParaRPr lang="en-US" sz="940" dirty="0"/>
          </a:p>
        </p:txBody>
      </p:sp>
      <p:sp>
        <p:nvSpPr>
          <p:cNvPr id="16" name="Shape 14"/>
          <p:cNvSpPr/>
          <p:nvPr/>
        </p:nvSpPr>
        <p:spPr>
          <a:xfrm>
            <a:off x="4251960" y="1856232"/>
            <a:ext cx="3474720" cy="3511296"/>
          </a:xfrm>
          <a:prstGeom prst="roundRect">
            <a:avLst>
              <a:gd name="adj" fmla="val 3684"/>
            </a:avLst>
          </a:prstGeom>
          <a:solidFill>
            <a:srgbClr val="FFFFFF"/>
          </a:solidFill>
          <a:ln w="10160">
            <a:solidFill>
              <a:srgbClr val="DEE5F0"/>
            </a:solidFill>
            <a:prstDash val="solid"/>
          </a:ln>
        </p:spPr>
        <p:txBody>
          <a:bodyPr/>
          <a:p/>
        </p:txBody>
      </p:sp>
      <p:sp>
        <p:nvSpPr>
          <p:cNvPr id="17" name="Shape 15"/>
          <p:cNvSpPr/>
          <p:nvPr/>
        </p:nvSpPr>
        <p:spPr>
          <a:xfrm>
            <a:off x="4251960" y="1856232"/>
            <a:ext cx="3474720" cy="64008"/>
          </a:xfrm>
          <a:prstGeom prst="rect">
            <a:avLst/>
          </a:prstGeom>
          <a:solidFill>
            <a:srgbClr val="6D4AFF"/>
          </a:solidFill>
          <a:ln w="12700">
            <a:solidFill>
              <a:srgbClr val="6D4AFF"/>
            </a:solidFill>
            <a:prstDash val="solid"/>
          </a:ln>
        </p:spPr>
        <p:txBody>
          <a:bodyPr/>
          <a:p/>
        </p:txBody>
      </p:sp>
      <p:sp>
        <p:nvSpPr>
          <p:cNvPr id="18" name="Shape 16"/>
          <p:cNvSpPr/>
          <p:nvPr/>
        </p:nvSpPr>
        <p:spPr>
          <a:xfrm>
            <a:off x="4453128" y="2075688"/>
            <a:ext cx="1207008"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19" name="Text 17"/>
          <p:cNvSpPr txBox="1"/>
          <p:nvPr/>
        </p:nvSpPr>
        <p:spPr>
          <a:xfrm>
            <a:off x="4507992" y="2084832"/>
            <a:ext cx="1097280"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2-qubit demo</a:t>
            </a:r>
            <a:endParaRPr lang="en-US" sz="850" dirty="0"/>
          </a:p>
        </p:txBody>
      </p:sp>
      <p:sp>
        <p:nvSpPr>
          <p:cNvPr id="20" name="Text 18"/>
          <p:cNvSpPr txBox="1"/>
          <p:nvPr/>
        </p:nvSpPr>
        <p:spPr>
          <a:xfrm>
            <a:off x="4453128" y="2505456"/>
            <a:ext cx="3063240" cy="256032"/>
          </a:xfrm>
          <a:prstGeom prst="rect">
            <a:avLst/>
          </a:prstGeom>
          <a:noFill/>
          <a:ln/>
        </p:spPr>
        <p:txBody>
          <a:bodyPr wrap="square" lIns="0" tIns="0" rIns="0" bIns="0" rtlCol="0" anchor="ctr">
            <a:normAutofit/>
          </a:bodyPr>
          <a:lstStyle/>
          <a:p>
            <a:pPr algn="l" indent="0" marL="0">
              <a:lnSpc>
                <a:spcPct val="100000"/>
              </a:lnSpc>
              <a:buNone/>
            </a:pPr>
            <a:r>
              <a:rPr lang="en-US" sz="1100" b="1" spc="40" kern="0" dirty="0">
                <a:solidFill>
                  <a:srgbClr val="202A40"/>
                </a:solidFill>
                <a:latin typeface="Inter" pitchFamily="34" charset="0"/>
                <a:ea typeface="Inter" pitchFamily="34" charset="-122"/>
                <a:cs typeface="Inter" pitchFamily="34" charset="-120"/>
              </a:rPr>
              <a:t>INTERMEDIATE QML</a:t>
            </a:r>
            <a:endParaRPr lang="en-US" sz="1100" dirty="0"/>
          </a:p>
        </p:txBody>
      </p:sp>
      <p:sp>
        <p:nvSpPr>
          <p:cNvPr id="21" name="Text 19"/>
          <p:cNvSpPr txBox="1"/>
          <p:nvPr/>
        </p:nvSpPr>
        <p:spPr>
          <a:xfrm>
            <a:off x="4453128" y="2916936"/>
            <a:ext cx="3063240" cy="512064"/>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6D4AFF"/>
                </a:solidFill>
                <a:latin typeface="Inter" pitchFamily="34" charset="0"/>
                <a:ea typeface="Inter" pitchFamily="34" charset="-122"/>
                <a:cs typeface="Inter" pitchFamily="34" charset="-120"/>
              </a:rPr>
              <a:t>512</a:t>
            </a:r>
            <a:endParaRPr lang="en-US" sz="3100" dirty="0"/>
          </a:p>
        </p:txBody>
      </p:sp>
      <p:sp>
        <p:nvSpPr>
          <p:cNvPr id="22" name="Text 20"/>
          <p:cNvSpPr txBox="1"/>
          <p:nvPr/>
        </p:nvSpPr>
        <p:spPr>
          <a:xfrm>
            <a:off x="4462272" y="3465576"/>
            <a:ext cx="3054096" cy="228600"/>
          </a:xfrm>
          <a:prstGeom prst="rect">
            <a:avLst/>
          </a:prstGeom>
          <a:noFill/>
          <a:ln/>
        </p:spPr>
        <p:txBody>
          <a:bodyPr wrap="square" lIns="0" tIns="0" rIns="0" bIns="0" rtlCol="0" anchor="ctr">
            <a:normAutofit/>
          </a:bodyPr>
          <a:lstStyle/>
          <a:p>
            <a:pPr algn="l" indent="0" marL="0">
              <a:lnSpc>
                <a:spcPct val="100000"/>
              </a:lnSpc>
              <a:buNone/>
            </a:pPr>
            <a:r>
              <a:rPr lang="en-US" sz="1070" b="1" dirty="0">
                <a:solidFill>
                  <a:srgbClr val="202A40"/>
                </a:solidFill>
                <a:latin typeface="Inter" pitchFamily="34" charset="0"/>
                <a:ea typeface="Inter" pitchFamily="34" charset="-122"/>
                <a:cs typeface="Inter" pitchFamily="34" charset="-120"/>
              </a:rPr>
              <a:t>hardware shots</a:t>
            </a:r>
            <a:endParaRPr lang="en-US" sz="1070" dirty="0"/>
          </a:p>
        </p:txBody>
      </p:sp>
      <p:sp>
        <p:nvSpPr>
          <p:cNvPr id="23" name="Text 21"/>
          <p:cNvSpPr txBox="1"/>
          <p:nvPr/>
        </p:nvSpPr>
        <p:spPr>
          <a:xfrm>
            <a:off x="4462272" y="3803904"/>
            <a:ext cx="3054096" cy="228600"/>
          </a:xfrm>
          <a:prstGeom prst="rect">
            <a:avLst/>
          </a:prstGeom>
          <a:noFill/>
          <a:ln/>
        </p:spPr>
        <p:txBody>
          <a:bodyPr wrap="square" lIns="0" tIns="0" rIns="0" bIns="0" rtlCol="0" anchor="ctr">
            <a:normAutofit/>
          </a:bodyPr>
          <a:lstStyle/>
          <a:p>
            <a:pPr algn="l" indent="0" marL="0">
              <a:lnSpc>
                <a:spcPct val="100000"/>
              </a:lnSpc>
              <a:buNone/>
            </a:pPr>
            <a:r>
              <a:rPr lang="en-US" sz="980" dirty="0">
                <a:solidFill>
                  <a:srgbClr val="5D6B84"/>
                </a:solidFill>
                <a:latin typeface="Inter" pitchFamily="34" charset="0"/>
                <a:ea typeface="Inter" pitchFamily="34" charset="-122"/>
                <a:cs typeface="Inter" pitchFamily="34" charset="-120"/>
              </a:rPr>
              <a:t>Feature-map-style circuit</a:t>
            </a:r>
            <a:endParaRPr lang="en-US" sz="980" dirty="0"/>
          </a:p>
        </p:txBody>
      </p:sp>
      <p:sp>
        <p:nvSpPr>
          <p:cNvPr id="24" name="Shape 22"/>
          <p:cNvSpPr/>
          <p:nvPr/>
        </p:nvSpPr>
        <p:spPr>
          <a:xfrm>
            <a:off x="4462272" y="4206240"/>
            <a:ext cx="3054096" cy="0"/>
          </a:xfrm>
          <a:prstGeom prst="line">
            <a:avLst/>
          </a:prstGeom>
          <a:noFill/>
          <a:ln w="10160">
            <a:solidFill>
              <a:srgbClr val="E3E9F2"/>
            </a:solidFill>
            <a:prstDash val="solid"/>
            <a:headEnd type="none"/>
            <a:tailEnd type="none"/>
          </a:ln>
        </p:spPr>
        <p:txBody>
          <a:bodyPr/>
          <a:p/>
        </p:txBody>
      </p:sp>
      <p:sp>
        <p:nvSpPr>
          <p:cNvPr id="25" name="Text 23"/>
          <p:cNvSpPr txBox="1"/>
          <p:nvPr/>
        </p:nvSpPr>
        <p:spPr>
          <a:xfrm>
            <a:off x="4462272" y="4398264"/>
            <a:ext cx="3063240" cy="667512"/>
          </a:xfrm>
          <a:prstGeom prst="rect">
            <a:avLst/>
          </a:prstGeom>
          <a:noFill/>
          <a:ln/>
        </p:spPr>
        <p:txBody>
          <a:bodyPr wrap="square" lIns="0" tIns="0" rIns="0" bIns="0" rtlCol="0" anchor="t">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Demonstrated circuit execution only;</a:t>
            </a:r>
            <a:endParaRPr lang="en-US" sz="940" dirty="0"/>
          </a:p>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full 12-qubit kernel/SVM was not run on hardware.</a:t>
            </a:r>
            <a:endParaRPr lang="en-US" sz="940" dirty="0"/>
          </a:p>
        </p:txBody>
      </p:sp>
      <p:sp>
        <p:nvSpPr>
          <p:cNvPr id="26" name="Shape 24"/>
          <p:cNvSpPr/>
          <p:nvPr/>
        </p:nvSpPr>
        <p:spPr>
          <a:xfrm>
            <a:off x="7936992" y="1856232"/>
            <a:ext cx="3474720" cy="3511296"/>
          </a:xfrm>
          <a:prstGeom prst="roundRect">
            <a:avLst>
              <a:gd name="adj" fmla="val 3684"/>
            </a:avLst>
          </a:prstGeom>
          <a:solidFill>
            <a:srgbClr val="FFFFFF"/>
          </a:solidFill>
          <a:ln w="10160">
            <a:solidFill>
              <a:srgbClr val="DEE5F0"/>
            </a:solidFill>
            <a:prstDash val="solid"/>
          </a:ln>
        </p:spPr>
        <p:txBody>
          <a:bodyPr/>
          <a:p/>
        </p:txBody>
      </p:sp>
      <p:sp>
        <p:nvSpPr>
          <p:cNvPr id="27" name="Shape 25"/>
          <p:cNvSpPr/>
          <p:nvPr/>
        </p:nvSpPr>
        <p:spPr>
          <a:xfrm>
            <a:off x="7936992" y="1856232"/>
            <a:ext cx="3474720" cy="64008"/>
          </a:xfrm>
          <a:prstGeom prst="rect">
            <a:avLst/>
          </a:prstGeom>
          <a:solidFill>
            <a:srgbClr val="E96E5B"/>
          </a:solidFill>
          <a:ln w="12700">
            <a:solidFill>
              <a:srgbClr val="E96E5B"/>
            </a:solidFill>
            <a:prstDash val="solid"/>
          </a:ln>
        </p:spPr>
        <p:txBody>
          <a:bodyPr/>
          <a:p/>
        </p:txBody>
      </p:sp>
      <p:sp>
        <p:nvSpPr>
          <p:cNvPr id="28" name="Shape 26"/>
          <p:cNvSpPr/>
          <p:nvPr/>
        </p:nvSpPr>
        <p:spPr>
          <a:xfrm>
            <a:off x="8138160" y="2075688"/>
            <a:ext cx="1207008" cy="274320"/>
          </a:xfrm>
          <a:prstGeom prst="roundRect">
            <a:avLst>
              <a:gd name="adj" fmla="val 50000"/>
            </a:avLst>
          </a:prstGeom>
          <a:solidFill>
            <a:srgbClr val="FDEBE7"/>
          </a:solidFill>
          <a:ln w="12700">
            <a:solidFill>
              <a:srgbClr val="FDEBE7">
                <a:alpha val="0"/>
              </a:srgbClr>
            </a:solidFill>
            <a:prstDash val="solid"/>
          </a:ln>
        </p:spPr>
        <p:txBody>
          <a:bodyPr/>
          <a:p/>
        </p:txBody>
      </p:sp>
      <p:sp>
        <p:nvSpPr>
          <p:cNvPr id="29" name="Text 27"/>
          <p:cNvSpPr txBox="1"/>
          <p:nvPr/>
        </p:nvSpPr>
        <p:spPr>
          <a:xfrm>
            <a:off x="8193024" y="2084832"/>
            <a:ext cx="1097280"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E96E5B"/>
                </a:solidFill>
                <a:latin typeface="Inter" pitchFamily="34" charset="0"/>
                <a:ea typeface="Inter" pitchFamily="34" charset="-122"/>
                <a:cs typeface="Inter" pitchFamily="34" charset="-120"/>
              </a:rPr>
              <a:t>20 logical qubits</a:t>
            </a:r>
            <a:endParaRPr lang="en-US" sz="850" dirty="0"/>
          </a:p>
        </p:txBody>
      </p:sp>
      <p:sp>
        <p:nvSpPr>
          <p:cNvPr id="30" name="Text 28"/>
          <p:cNvSpPr txBox="1"/>
          <p:nvPr/>
        </p:nvSpPr>
        <p:spPr>
          <a:xfrm>
            <a:off x="8138160" y="2505456"/>
            <a:ext cx="3063240" cy="256032"/>
          </a:xfrm>
          <a:prstGeom prst="rect">
            <a:avLst/>
          </a:prstGeom>
          <a:noFill/>
          <a:ln/>
        </p:spPr>
        <p:txBody>
          <a:bodyPr wrap="square" lIns="0" tIns="0" rIns="0" bIns="0" rtlCol="0" anchor="ctr">
            <a:normAutofit/>
          </a:bodyPr>
          <a:lstStyle/>
          <a:p>
            <a:pPr algn="l" indent="0" marL="0">
              <a:lnSpc>
                <a:spcPct val="100000"/>
              </a:lnSpc>
              <a:buNone/>
            </a:pPr>
            <a:r>
              <a:rPr lang="en-US" sz="1100" b="1" spc="40" kern="0" dirty="0">
                <a:solidFill>
                  <a:srgbClr val="202A40"/>
                </a:solidFill>
                <a:latin typeface="Inter" pitchFamily="34" charset="0"/>
                <a:ea typeface="Inter" pitchFamily="34" charset="-122"/>
                <a:cs typeface="Inter" pitchFamily="34" charset="-120"/>
              </a:rPr>
              <a:t>ADVANCED QAOA</a:t>
            </a:r>
            <a:endParaRPr lang="en-US" sz="1100" dirty="0"/>
          </a:p>
        </p:txBody>
      </p:sp>
      <p:sp>
        <p:nvSpPr>
          <p:cNvPr id="31" name="Text 29"/>
          <p:cNvSpPr txBox="1"/>
          <p:nvPr/>
        </p:nvSpPr>
        <p:spPr>
          <a:xfrm>
            <a:off x="8138160" y="2916936"/>
            <a:ext cx="3063240" cy="512064"/>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E96E5B"/>
                </a:solidFill>
                <a:latin typeface="Inter" pitchFamily="34" charset="0"/>
                <a:ea typeface="Inter" pitchFamily="34" charset="-122"/>
                <a:cs typeface="Inter" pitchFamily="34" charset="-120"/>
              </a:rPr>
              <a:t>0.39%</a:t>
            </a:r>
            <a:endParaRPr lang="en-US" sz="3100" dirty="0"/>
          </a:p>
        </p:txBody>
      </p:sp>
      <p:sp>
        <p:nvSpPr>
          <p:cNvPr id="32" name="Text 30"/>
          <p:cNvSpPr txBox="1"/>
          <p:nvPr/>
        </p:nvSpPr>
        <p:spPr>
          <a:xfrm>
            <a:off x="8147304" y="3465576"/>
            <a:ext cx="3054096" cy="228600"/>
          </a:xfrm>
          <a:prstGeom prst="rect">
            <a:avLst/>
          </a:prstGeom>
          <a:noFill/>
          <a:ln/>
        </p:spPr>
        <p:txBody>
          <a:bodyPr wrap="square" lIns="0" tIns="0" rIns="0" bIns="0" rtlCol="0" anchor="ctr">
            <a:normAutofit/>
          </a:bodyPr>
          <a:lstStyle/>
          <a:p>
            <a:pPr algn="l" indent="0" marL="0">
              <a:lnSpc>
                <a:spcPct val="100000"/>
              </a:lnSpc>
              <a:buNone/>
            </a:pPr>
            <a:r>
              <a:rPr lang="en-US" sz="1070" b="1" dirty="0">
                <a:solidFill>
                  <a:srgbClr val="202A40"/>
                </a:solidFill>
                <a:latin typeface="Inter" pitchFamily="34" charset="0"/>
                <a:ea typeface="Inter" pitchFamily="34" charset="-122"/>
                <a:cs typeface="Inter" pitchFamily="34" charset="-120"/>
              </a:rPr>
              <a:t>valid portfolio samples</a:t>
            </a:r>
            <a:endParaRPr lang="en-US" sz="1070" dirty="0"/>
          </a:p>
        </p:txBody>
      </p:sp>
      <p:sp>
        <p:nvSpPr>
          <p:cNvPr id="33" name="Text 31"/>
          <p:cNvSpPr txBox="1"/>
          <p:nvPr/>
        </p:nvSpPr>
        <p:spPr>
          <a:xfrm>
            <a:off x="8147304" y="3803904"/>
            <a:ext cx="3054096" cy="228600"/>
          </a:xfrm>
          <a:prstGeom prst="rect">
            <a:avLst/>
          </a:prstGeom>
          <a:noFill/>
          <a:ln/>
        </p:spPr>
        <p:txBody>
          <a:bodyPr wrap="square" lIns="0" tIns="0" rIns="0" bIns="0" rtlCol="0" anchor="ctr">
            <a:normAutofit/>
          </a:bodyPr>
          <a:lstStyle/>
          <a:p>
            <a:pPr algn="l" indent="0" marL="0">
              <a:lnSpc>
                <a:spcPct val="100000"/>
              </a:lnSpc>
              <a:buNone/>
            </a:pPr>
            <a:r>
              <a:rPr lang="en-US" sz="980" dirty="0">
                <a:solidFill>
                  <a:srgbClr val="5D6B84"/>
                </a:solidFill>
                <a:latin typeface="Inter" pitchFamily="34" charset="0"/>
                <a:ea typeface="Inter" pitchFamily="34" charset="-122"/>
                <a:cs typeface="Inter" pitchFamily="34" charset="-120"/>
              </a:rPr>
              <a:t>1 / 256 shots</a:t>
            </a:r>
            <a:endParaRPr lang="en-US" sz="980" dirty="0"/>
          </a:p>
        </p:txBody>
      </p:sp>
      <p:sp>
        <p:nvSpPr>
          <p:cNvPr id="34" name="Shape 32"/>
          <p:cNvSpPr/>
          <p:nvPr/>
        </p:nvSpPr>
        <p:spPr>
          <a:xfrm>
            <a:off x="8147304" y="4206240"/>
            <a:ext cx="3054096" cy="0"/>
          </a:xfrm>
          <a:prstGeom prst="line">
            <a:avLst/>
          </a:prstGeom>
          <a:noFill/>
          <a:ln w="10160">
            <a:solidFill>
              <a:srgbClr val="E3E9F2"/>
            </a:solidFill>
            <a:prstDash val="solid"/>
            <a:headEnd type="none"/>
            <a:tailEnd type="none"/>
          </a:ln>
        </p:spPr>
        <p:txBody>
          <a:bodyPr/>
          <a:p/>
        </p:txBody>
      </p:sp>
      <p:sp>
        <p:nvSpPr>
          <p:cNvPr id="35" name="Text 33"/>
          <p:cNvSpPr txBox="1"/>
          <p:nvPr/>
        </p:nvSpPr>
        <p:spPr>
          <a:xfrm>
            <a:off x="8147304" y="4398264"/>
            <a:ext cx="3063240" cy="667512"/>
          </a:xfrm>
          <a:prstGeom prst="rect">
            <a:avLst/>
          </a:prstGeom>
          <a:noFill/>
          <a:ln/>
        </p:spPr>
        <p:txBody>
          <a:bodyPr wrap="square" lIns="0" tIns="0" rIns="0" bIns="0" rtlCol="0" anchor="t">
            <a:normAutofit/>
          </a:bodyPr>
          <a:lstStyle/>
          <a:p>
            <a:pPr algn="l" indent="0" marL="0">
              <a:lnSpc>
                <a:spcPct val="100000"/>
              </a:lnSpc>
              <a:buNone/>
            </a:pPr>
            <a:r>
              <a:rPr lang="en-US" sz="940" dirty="0">
                <a:solidFill>
                  <a:srgbClr val="5D6B84"/>
                </a:solidFill>
                <a:latin typeface="Inter" pitchFamily="34" charset="0"/>
                <a:ea typeface="Inter" pitchFamily="34" charset="-122"/>
                <a:cs typeface="Inter" pitchFamily="34" charset="-120"/>
              </a:rPr>
              <a:t>Exact optimum: 0 hits. Best valid cost −0.794773; gap 0.316966.</a:t>
            </a:r>
            <a:endParaRPr lang="en-US" sz="940" dirty="0"/>
          </a:p>
        </p:txBody>
      </p:sp>
      <p:sp>
        <p:nvSpPr>
          <p:cNvPr id="36" name="Shape 34"/>
          <p:cNvSpPr/>
          <p:nvPr/>
        </p:nvSpPr>
        <p:spPr>
          <a:xfrm>
            <a:off x="566928" y="5504688"/>
            <a:ext cx="10844784" cy="713232"/>
          </a:xfrm>
          <a:prstGeom prst="roundRect">
            <a:avLst>
              <a:gd name="adj" fmla="val 17949"/>
            </a:avLst>
          </a:prstGeom>
          <a:solidFill>
            <a:srgbClr val="10172A"/>
          </a:solidFill>
          <a:ln w="10160">
            <a:solidFill>
              <a:srgbClr val="10172A"/>
            </a:solidFill>
            <a:prstDash val="solid"/>
          </a:ln>
        </p:spPr>
        <p:txBody>
          <a:bodyPr/>
          <a:p/>
        </p:txBody>
      </p:sp>
      <p:sp>
        <p:nvSpPr>
          <p:cNvPr id="37" name="Text 35"/>
          <p:cNvSpPr txBox="1"/>
          <p:nvPr/>
        </p:nvSpPr>
        <p:spPr>
          <a:xfrm>
            <a:off x="804672" y="5669280"/>
            <a:ext cx="2487168" cy="173736"/>
          </a:xfrm>
          <a:prstGeom prst="rect">
            <a:avLst/>
          </a:prstGeom>
          <a:noFill/>
          <a:ln/>
        </p:spPr>
        <p:txBody>
          <a:bodyPr wrap="square" lIns="0" tIns="0" rIns="0" bIns="0" rtlCol="0" anchor="ctr">
            <a:normAutofit/>
          </a:bodyPr>
          <a:lstStyle/>
          <a:p>
            <a:pPr algn="l" indent="0" marL="0">
              <a:lnSpc>
                <a:spcPct val="100000"/>
              </a:lnSpc>
              <a:buNone/>
            </a:pPr>
            <a:r>
              <a:rPr lang="en-US" sz="810" b="1" spc="50" kern="0" dirty="0">
                <a:solidFill>
                  <a:srgbClr val="AAB8D8"/>
                </a:solidFill>
                <a:latin typeface="Inter" pitchFamily="34" charset="0"/>
                <a:ea typeface="Inter" pitchFamily="34" charset="-122"/>
                <a:cs typeface="Inter" pitchFamily="34" charset="-120"/>
              </a:rPr>
              <a:t>ADVANCED RUN: KEY LIMITATIONS</a:t>
            </a:r>
            <a:endParaRPr lang="en-US" sz="810" dirty="0"/>
          </a:p>
        </p:txBody>
      </p:sp>
      <p:sp>
        <p:nvSpPr>
          <p:cNvPr id="38" name="Text 36"/>
          <p:cNvSpPr txBox="1"/>
          <p:nvPr/>
        </p:nvSpPr>
        <p:spPr>
          <a:xfrm>
            <a:off x="3456432" y="5641848"/>
            <a:ext cx="7699248" cy="265176"/>
          </a:xfrm>
          <a:prstGeom prst="rect">
            <a:avLst/>
          </a:prstGeom>
          <a:noFill/>
          <a:ln/>
        </p:spPr>
        <p:txBody>
          <a:bodyPr wrap="square" lIns="0" tIns="0" rIns="0" bIns="0" rtlCol="0" anchor="ctr">
            <a:normAutofit/>
          </a:bodyPr>
          <a:lstStyle/>
          <a:p>
            <a:pPr algn="l" indent="0" marL="0">
              <a:lnSpc>
                <a:spcPct val="100000"/>
              </a:lnSpc>
              <a:buNone/>
            </a:pPr>
            <a:r>
              <a:rPr lang="en-US" sz="970" b="1" dirty="0">
                <a:solidFill>
                  <a:srgbClr val="FFFFFF"/>
                </a:solidFill>
                <a:latin typeface="Inter" pitchFamily="34" charset="0"/>
                <a:ea typeface="Inter" pitchFamily="34" charset="-122"/>
                <a:cs typeface="Inter" pitchFamily="34" charset="-120"/>
              </a:rPr>
              <a:t>Depth 680  ·  938 CZ gates  ·  256 shots  ·  pilot angles not shown to have converged</a:t>
            </a:r>
            <a:endParaRPr lang="en-US" sz="97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84048"/>
            <a:ext cx="1417320" cy="274320"/>
          </a:xfrm>
          <a:prstGeom prst="roundRect">
            <a:avLst>
              <a:gd name="adj" fmla="val 50000"/>
            </a:avLst>
          </a:prstGeom>
          <a:solidFill>
            <a:srgbClr val="EFEBFF"/>
          </a:solidFill>
          <a:ln w="12700">
            <a:solidFill>
              <a:srgbClr val="EFEBFF">
                <a:alpha val="0"/>
              </a:srgbClr>
            </a:solidFill>
            <a:prstDash val="solid"/>
          </a:ln>
        </p:spPr>
        <p:txBody>
          <a:bodyPr/>
          <a:p/>
        </p:txBody>
      </p:sp>
      <p:sp>
        <p:nvSpPr>
          <p:cNvPr id="3" name="Text 1"/>
          <p:cNvSpPr txBox="1"/>
          <p:nvPr/>
        </p:nvSpPr>
        <p:spPr>
          <a:xfrm>
            <a:off x="621792" y="393192"/>
            <a:ext cx="1307592"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6D4AFF"/>
                </a:solidFill>
                <a:latin typeface="Inter" pitchFamily="34" charset="0"/>
                <a:ea typeface="Inter" pitchFamily="34" charset="-122"/>
                <a:cs typeface="Inter" pitchFamily="34" charset="-120"/>
              </a:rPr>
              <a:t>TAKEAWAYS</a:t>
            </a:r>
            <a:endParaRPr lang="en-US" sz="850" dirty="0"/>
          </a:p>
        </p:txBody>
      </p:sp>
      <p:sp>
        <p:nvSpPr>
          <p:cNvPr id="4" name="Text 2"/>
          <p:cNvSpPr txBox="1"/>
          <p:nvPr/>
        </p:nvSpPr>
        <p:spPr>
          <a:xfrm>
            <a:off x="566928" y="749808"/>
            <a:ext cx="10927080" cy="50292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0172A"/>
                </a:solidFill>
                <a:latin typeface="Inter" pitchFamily="34" charset="0"/>
                <a:ea typeface="Inter" pitchFamily="34" charset="-122"/>
                <a:cs typeface="Inter" pitchFamily="34" charset="-120"/>
              </a:rPr>
              <a:t>What we learned — and what we can honestly claim</a:t>
            </a:r>
            <a:endParaRPr lang="en-US" sz="2700" dirty="0"/>
          </a:p>
        </p:txBody>
      </p:sp>
      <p:sp>
        <p:nvSpPr>
          <p:cNvPr id="5" name="Text 3"/>
          <p:cNvSpPr txBox="1"/>
          <p:nvPr/>
        </p:nvSpPr>
        <p:spPr>
          <a:xfrm>
            <a:off x="594360" y="1298448"/>
            <a:ext cx="10927080" cy="310896"/>
          </a:xfrm>
          <a:prstGeom prst="rect">
            <a:avLst/>
          </a:prstGeom>
          <a:noFill/>
          <a:ln/>
        </p:spPr>
        <p:txBody>
          <a:bodyPr wrap="square" lIns="0" tIns="0" rIns="0" bIns="0" rtlCol="0" anchor="ctr">
            <a:normAutofit/>
          </a:bodyPr>
          <a:lstStyle/>
          <a:p>
            <a:pPr algn="l" indent="0" marL="0">
              <a:lnSpc>
                <a:spcPct val="100000"/>
              </a:lnSpc>
              <a:buNone/>
            </a:pPr>
            <a:r>
              <a:rPr lang="en-US" sz="1220" dirty="0">
                <a:solidFill>
                  <a:srgbClr val="5D6B84"/>
                </a:solidFill>
                <a:latin typeface="Inter" pitchFamily="34" charset="0"/>
                <a:ea typeface="Inter" pitchFamily="34" charset="-122"/>
                <a:cs typeface="Inter" pitchFamily="34" charset="-120"/>
              </a:rPr>
              <a:t>The most important outcome is an end-to-end, classically checked workflow with real-device evidence.</a:t>
            </a:r>
            <a:endParaRPr lang="en-US" sz="1220" dirty="0"/>
          </a:p>
        </p:txBody>
      </p:sp>
      <p:sp>
        <p:nvSpPr>
          <p:cNvPr id="6" name="Shape 4"/>
          <p:cNvSpPr/>
          <p:nvPr/>
        </p:nvSpPr>
        <p:spPr>
          <a:xfrm>
            <a:off x="566928" y="1865376"/>
            <a:ext cx="5486400" cy="3218688"/>
          </a:xfrm>
          <a:prstGeom prst="roundRect">
            <a:avLst>
              <a:gd name="adj" fmla="val 3977"/>
            </a:avLst>
          </a:prstGeom>
          <a:solidFill>
            <a:srgbClr val="FFFFFF"/>
          </a:solidFill>
          <a:ln w="10160">
            <a:solidFill>
              <a:srgbClr val="DEE5F0"/>
            </a:solidFill>
            <a:prstDash val="solid"/>
          </a:ln>
        </p:spPr>
        <p:txBody>
          <a:bodyPr/>
          <a:p/>
        </p:txBody>
      </p:sp>
      <p:sp>
        <p:nvSpPr>
          <p:cNvPr id="7" name="Text 5"/>
          <p:cNvSpPr txBox="1"/>
          <p:nvPr/>
        </p:nvSpPr>
        <p:spPr>
          <a:xfrm>
            <a:off x="822960" y="2103120"/>
            <a:ext cx="1920240" cy="210312"/>
          </a:xfrm>
          <a:prstGeom prst="rect">
            <a:avLst/>
          </a:prstGeom>
          <a:noFill/>
          <a:ln/>
        </p:spPr>
        <p:txBody>
          <a:bodyPr wrap="square" lIns="0" tIns="0" rIns="0" bIns="0" rtlCol="0" anchor="ctr">
            <a:normAutofit/>
          </a:bodyPr>
          <a:lstStyle/>
          <a:p>
            <a:pPr algn="l" indent="0" marL="0">
              <a:lnSpc>
                <a:spcPct val="100000"/>
              </a:lnSpc>
              <a:buNone/>
            </a:pPr>
            <a:r>
              <a:rPr lang="en-US" sz="900" b="1" spc="100" kern="0" dirty="0">
                <a:solidFill>
                  <a:srgbClr val="8B98AE"/>
                </a:solidFill>
                <a:latin typeface="Inter" pitchFamily="34" charset="0"/>
                <a:ea typeface="Inter" pitchFamily="34" charset="-122"/>
                <a:cs typeface="Inter" pitchFamily="34" charset="-120"/>
              </a:rPr>
              <a:t>THREE TAKEAWAYS</a:t>
            </a:r>
            <a:endParaRPr lang="en-US" sz="900" dirty="0"/>
          </a:p>
        </p:txBody>
      </p:sp>
      <p:sp>
        <p:nvSpPr>
          <p:cNvPr id="8" name="Shape 6"/>
          <p:cNvSpPr/>
          <p:nvPr/>
        </p:nvSpPr>
        <p:spPr>
          <a:xfrm>
            <a:off x="832104" y="2523744"/>
            <a:ext cx="329184" cy="329184"/>
          </a:xfrm>
          <a:prstGeom prst="ellipse">
            <a:avLst/>
          </a:prstGeom>
          <a:solidFill>
            <a:srgbClr val="14A8B5"/>
          </a:solidFill>
          <a:ln w="12700">
            <a:solidFill>
              <a:srgbClr val="14A8B5"/>
            </a:solidFill>
            <a:prstDash val="solid"/>
          </a:ln>
        </p:spPr>
        <p:txBody>
          <a:bodyPr/>
          <a:p/>
        </p:txBody>
      </p:sp>
      <p:sp>
        <p:nvSpPr>
          <p:cNvPr id="9" name="Text 7"/>
          <p:cNvSpPr txBox="1"/>
          <p:nvPr/>
        </p:nvSpPr>
        <p:spPr>
          <a:xfrm>
            <a:off x="832104" y="2532888"/>
            <a:ext cx="32918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01</a:t>
            </a:r>
            <a:endParaRPr lang="en-US" sz="1000" dirty="0"/>
          </a:p>
        </p:txBody>
      </p:sp>
      <p:sp>
        <p:nvSpPr>
          <p:cNvPr id="10" name="Text 8"/>
          <p:cNvSpPr txBox="1"/>
          <p:nvPr/>
        </p:nvSpPr>
        <p:spPr>
          <a:xfrm>
            <a:off x="1307592" y="2514600"/>
            <a:ext cx="4297680"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A classical baseline is essential</a:t>
            </a:r>
            <a:endParaRPr lang="en-US" sz="1200" dirty="0"/>
          </a:p>
        </p:txBody>
      </p:sp>
      <p:sp>
        <p:nvSpPr>
          <p:cNvPr id="11" name="Text 9"/>
          <p:cNvSpPr txBox="1"/>
          <p:nvPr/>
        </p:nvSpPr>
        <p:spPr>
          <a:xfrm>
            <a:off x="1307592" y="2798064"/>
            <a:ext cx="4315968" cy="274320"/>
          </a:xfrm>
          <a:prstGeom prst="rect">
            <a:avLst/>
          </a:prstGeom>
          <a:noFill/>
          <a:ln/>
        </p:spPr>
        <p:txBody>
          <a:bodyPr wrap="square" lIns="0" tIns="0" rIns="0" bIns="0" rtlCol="0" anchor="t">
            <a:normAutofit/>
          </a:bodyPr>
          <a:lstStyle/>
          <a:p>
            <a:pPr algn="l" indent="0" marL="0">
              <a:lnSpc>
                <a:spcPct val="100000"/>
              </a:lnSpc>
              <a:buNone/>
            </a:pPr>
            <a:r>
              <a:rPr lang="en-US" sz="950" dirty="0">
                <a:solidFill>
                  <a:srgbClr val="5D6B84"/>
                </a:solidFill>
                <a:latin typeface="Inter" pitchFamily="34" charset="0"/>
                <a:ea typeface="Inter" pitchFamily="34" charset="-122"/>
                <a:cs typeface="Inter" pitchFamily="34" charset="-120"/>
              </a:rPr>
              <a:t>Exact enumeration tells us when a measured portfolio is truly optimal.</a:t>
            </a:r>
            <a:endParaRPr lang="en-US" sz="950" dirty="0"/>
          </a:p>
        </p:txBody>
      </p:sp>
      <p:sp>
        <p:nvSpPr>
          <p:cNvPr id="12" name="Shape 10"/>
          <p:cNvSpPr/>
          <p:nvPr/>
        </p:nvSpPr>
        <p:spPr>
          <a:xfrm>
            <a:off x="832104" y="3255264"/>
            <a:ext cx="329184" cy="329184"/>
          </a:xfrm>
          <a:prstGeom prst="ellipse">
            <a:avLst/>
          </a:prstGeom>
          <a:solidFill>
            <a:srgbClr val="6D4AFF"/>
          </a:solidFill>
          <a:ln w="12700">
            <a:solidFill>
              <a:srgbClr val="6D4AFF"/>
            </a:solidFill>
            <a:prstDash val="solid"/>
          </a:ln>
        </p:spPr>
        <p:txBody>
          <a:bodyPr/>
          <a:p/>
        </p:txBody>
      </p:sp>
      <p:sp>
        <p:nvSpPr>
          <p:cNvPr id="13" name="Text 11"/>
          <p:cNvSpPr txBox="1"/>
          <p:nvPr/>
        </p:nvSpPr>
        <p:spPr>
          <a:xfrm>
            <a:off x="832104" y="3264408"/>
            <a:ext cx="32918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02</a:t>
            </a:r>
            <a:endParaRPr lang="en-US" sz="1000" dirty="0"/>
          </a:p>
        </p:txBody>
      </p:sp>
      <p:sp>
        <p:nvSpPr>
          <p:cNvPr id="14" name="Text 12"/>
          <p:cNvSpPr txBox="1"/>
          <p:nvPr/>
        </p:nvSpPr>
        <p:spPr>
          <a:xfrm>
            <a:off x="1307592" y="3246120"/>
            <a:ext cx="4297680"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Feasibility matters, not just cost</a:t>
            </a:r>
            <a:endParaRPr lang="en-US" sz="1200" dirty="0"/>
          </a:p>
        </p:txBody>
      </p:sp>
      <p:sp>
        <p:nvSpPr>
          <p:cNvPr id="15" name="Text 13"/>
          <p:cNvSpPr txBox="1"/>
          <p:nvPr/>
        </p:nvSpPr>
        <p:spPr>
          <a:xfrm>
            <a:off x="1307592" y="3529584"/>
            <a:ext cx="4315968" cy="274320"/>
          </a:xfrm>
          <a:prstGeom prst="rect">
            <a:avLst/>
          </a:prstGeom>
          <a:noFill/>
          <a:ln/>
        </p:spPr>
        <p:txBody>
          <a:bodyPr wrap="square" lIns="0" tIns="0" rIns="0" bIns="0" rtlCol="0" anchor="t">
            <a:normAutofit/>
          </a:bodyPr>
          <a:lstStyle/>
          <a:p>
            <a:pPr algn="l" indent="0" marL="0">
              <a:lnSpc>
                <a:spcPct val="100000"/>
              </a:lnSpc>
              <a:buNone/>
            </a:pPr>
            <a:r>
              <a:rPr lang="en-US" sz="950" dirty="0">
                <a:solidFill>
                  <a:srgbClr val="5D6B84"/>
                </a:solidFill>
                <a:latin typeface="Inter" pitchFamily="34" charset="0"/>
                <a:ea typeface="Inter" pitchFamily="34" charset="-122"/>
                <a:cs typeface="Inter" pitchFamily="34" charset="-120"/>
              </a:rPr>
              <a:t>Many measurements are invalid; decode and check constraints before comparing.</a:t>
            </a:r>
            <a:endParaRPr lang="en-US" sz="950" dirty="0"/>
          </a:p>
        </p:txBody>
      </p:sp>
      <p:sp>
        <p:nvSpPr>
          <p:cNvPr id="16" name="Shape 14"/>
          <p:cNvSpPr/>
          <p:nvPr/>
        </p:nvSpPr>
        <p:spPr>
          <a:xfrm>
            <a:off x="832104" y="3986784"/>
            <a:ext cx="329184" cy="329184"/>
          </a:xfrm>
          <a:prstGeom prst="ellipse">
            <a:avLst/>
          </a:prstGeom>
          <a:solidFill>
            <a:srgbClr val="E96E5B"/>
          </a:solidFill>
          <a:ln w="12700">
            <a:solidFill>
              <a:srgbClr val="E96E5B"/>
            </a:solidFill>
            <a:prstDash val="solid"/>
          </a:ln>
        </p:spPr>
        <p:txBody>
          <a:bodyPr/>
          <a:p/>
        </p:txBody>
      </p:sp>
      <p:sp>
        <p:nvSpPr>
          <p:cNvPr id="17" name="Text 15"/>
          <p:cNvSpPr txBox="1"/>
          <p:nvPr/>
        </p:nvSpPr>
        <p:spPr>
          <a:xfrm>
            <a:off x="832104" y="3995928"/>
            <a:ext cx="329184"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Inter" pitchFamily="34" charset="0"/>
                <a:ea typeface="Inter" pitchFamily="34" charset="-122"/>
                <a:cs typeface="Inter" pitchFamily="34" charset="-120"/>
              </a:rPr>
              <a:t>03</a:t>
            </a:r>
            <a:endParaRPr lang="en-US" sz="1000" dirty="0"/>
          </a:p>
        </p:txBody>
      </p:sp>
      <p:sp>
        <p:nvSpPr>
          <p:cNvPr id="18" name="Text 16"/>
          <p:cNvSpPr txBox="1"/>
          <p:nvPr/>
        </p:nvSpPr>
        <p:spPr>
          <a:xfrm>
            <a:off x="1307592" y="3977640"/>
            <a:ext cx="4297680"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02A40"/>
                </a:solidFill>
                <a:latin typeface="Inter" pitchFamily="34" charset="0"/>
                <a:ea typeface="Inter" pitchFamily="34" charset="-122"/>
                <a:cs typeface="Inter" pitchFamily="34" charset="-120"/>
              </a:rPr>
              <a:t>Hardware results need context</a:t>
            </a:r>
            <a:endParaRPr lang="en-US" sz="1200" dirty="0"/>
          </a:p>
        </p:txBody>
      </p:sp>
      <p:sp>
        <p:nvSpPr>
          <p:cNvPr id="19" name="Text 17"/>
          <p:cNvSpPr txBox="1"/>
          <p:nvPr/>
        </p:nvSpPr>
        <p:spPr>
          <a:xfrm>
            <a:off x="1307592" y="4261104"/>
            <a:ext cx="4315968" cy="274320"/>
          </a:xfrm>
          <a:prstGeom prst="rect">
            <a:avLst/>
          </a:prstGeom>
          <a:noFill/>
          <a:ln/>
        </p:spPr>
        <p:txBody>
          <a:bodyPr wrap="square" lIns="0" tIns="0" rIns="0" bIns="0" rtlCol="0" anchor="t">
            <a:normAutofit/>
          </a:bodyPr>
          <a:lstStyle/>
          <a:p>
            <a:pPr algn="l" indent="0" marL="0">
              <a:lnSpc>
                <a:spcPct val="100000"/>
              </a:lnSpc>
              <a:buNone/>
            </a:pPr>
            <a:r>
              <a:rPr lang="en-US" sz="950" dirty="0">
                <a:solidFill>
                  <a:srgbClr val="5D6B84"/>
                </a:solidFill>
                <a:latin typeface="Inter" pitchFamily="34" charset="0"/>
                <a:ea typeface="Inter" pitchFamily="34" charset="-122"/>
                <a:cs typeface="Inter" pitchFamily="34" charset="-120"/>
              </a:rPr>
              <a:t>Circuit depth, shots, noise, and parameter quality shape what we observe.</a:t>
            </a:r>
            <a:endParaRPr lang="en-US" sz="950" dirty="0"/>
          </a:p>
        </p:txBody>
      </p:sp>
      <p:sp>
        <p:nvSpPr>
          <p:cNvPr id="20" name="Shape 18"/>
          <p:cNvSpPr/>
          <p:nvPr/>
        </p:nvSpPr>
        <p:spPr>
          <a:xfrm>
            <a:off x="6309360" y="1865376"/>
            <a:ext cx="5285232" cy="3218688"/>
          </a:xfrm>
          <a:prstGeom prst="roundRect">
            <a:avLst>
              <a:gd name="adj" fmla="val 3977"/>
            </a:avLst>
          </a:prstGeom>
          <a:solidFill>
            <a:srgbClr val="10172A"/>
          </a:solidFill>
          <a:ln w="10160">
            <a:solidFill>
              <a:srgbClr val="10172A"/>
            </a:solidFill>
            <a:prstDash val="solid"/>
          </a:ln>
        </p:spPr>
        <p:txBody>
          <a:bodyPr/>
          <a:p/>
        </p:txBody>
      </p:sp>
      <p:sp>
        <p:nvSpPr>
          <p:cNvPr id="21" name="Shape 19"/>
          <p:cNvSpPr/>
          <p:nvPr/>
        </p:nvSpPr>
        <p:spPr>
          <a:xfrm>
            <a:off x="6565392" y="2103120"/>
            <a:ext cx="1792224" cy="274320"/>
          </a:xfrm>
          <a:prstGeom prst="roundRect">
            <a:avLst>
              <a:gd name="adj" fmla="val 50000"/>
            </a:avLst>
          </a:prstGeom>
          <a:solidFill>
            <a:srgbClr val="2B3551"/>
          </a:solidFill>
          <a:ln w="12700">
            <a:solidFill>
              <a:srgbClr val="2B3551">
                <a:alpha val="0"/>
              </a:srgbClr>
            </a:solidFill>
            <a:prstDash val="solid"/>
          </a:ln>
        </p:spPr>
        <p:txBody>
          <a:bodyPr/>
          <a:p/>
        </p:txBody>
      </p:sp>
      <p:sp>
        <p:nvSpPr>
          <p:cNvPr id="22" name="Text 20"/>
          <p:cNvSpPr txBox="1"/>
          <p:nvPr/>
        </p:nvSpPr>
        <p:spPr>
          <a:xfrm>
            <a:off x="6620256" y="2112264"/>
            <a:ext cx="1682496" cy="246888"/>
          </a:xfrm>
          <a:prstGeom prst="rect">
            <a:avLst/>
          </a:prstGeom>
          <a:noFill/>
          <a:ln/>
        </p:spPr>
        <p:txBody>
          <a:bodyPr wrap="square" lIns="0" tIns="0" rIns="0" bIns="0" rtlCol="0" anchor="ctr">
            <a:normAutofit/>
          </a:bodyPr>
          <a:lstStyle/>
          <a:p>
            <a:pPr algn="ctr" indent="0" marL="0">
              <a:lnSpc>
                <a:spcPct val="100000"/>
              </a:lnSpc>
              <a:buNone/>
            </a:pPr>
            <a:r>
              <a:rPr lang="en-US" sz="850" b="1" spc="50" kern="0" dirty="0">
                <a:solidFill>
                  <a:srgbClr val="D9E2FF"/>
                </a:solidFill>
                <a:latin typeface="Inter" pitchFamily="34" charset="0"/>
                <a:ea typeface="Inter" pitchFamily="34" charset="-122"/>
                <a:cs typeface="Inter" pitchFamily="34" charset="-120"/>
              </a:rPr>
              <a:t>SCIENTIFIC BOUNDARY</a:t>
            </a:r>
            <a:endParaRPr lang="en-US" sz="850" dirty="0"/>
          </a:p>
        </p:txBody>
      </p:sp>
      <p:sp>
        <p:nvSpPr>
          <p:cNvPr id="23" name="Text 21"/>
          <p:cNvSpPr txBox="1"/>
          <p:nvPr/>
        </p:nvSpPr>
        <p:spPr>
          <a:xfrm>
            <a:off x="6565392" y="2578608"/>
            <a:ext cx="1965960" cy="237744"/>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5DE0C6"/>
                </a:solidFill>
                <a:latin typeface="Inter" pitchFamily="34" charset="0"/>
                <a:ea typeface="Inter" pitchFamily="34" charset="-122"/>
                <a:cs typeface="Inter" pitchFamily="34" charset="-120"/>
              </a:rPr>
              <a:t>We demonstrated</a:t>
            </a:r>
            <a:endParaRPr lang="en-US" sz="1300" dirty="0"/>
          </a:p>
        </p:txBody>
      </p:sp>
      <p:sp>
        <p:nvSpPr>
          <p:cNvPr id="24" name="Text 22"/>
          <p:cNvSpPr txBox="1"/>
          <p:nvPr/>
        </p:nvSpPr>
        <p:spPr>
          <a:xfrm>
            <a:off x="6565392" y="2898648"/>
            <a:ext cx="4498848" cy="621792"/>
          </a:xfrm>
          <a:prstGeom prst="rect">
            <a:avLst/>
          </a:prstGeom>
          <a:noFill/>
          <a:ln/>
        </p:spPr>
        <p:txBody>
          <a:bodyPr wrap="square" lIns="0" tIns="0" rIns="0" bIns="0" rtlCol="0" anchor="t">
            <a:normAutofit/>
          </a:bodyPr>
          <a:lstStyle/>
          <a:p>
            <a:pPr algn="l" indent="0" marL="0">
              <a:lnSpc>
                <a:spcPct val="100000"/>
              </a:lnSpc>
              <a:buNone/>
            </a:pPr>
            <a:r>
              <a:rPr lang="en-US" sz="1120" dirty="0">
                <a:solidFill>
                  <a:srgbClr val="FFFFFF"/>
                </a:solidFill>
                <a:latin typeface="Inter" pitchFamily="34" charset="0"/>
                <a:ea typeface="Inter" pitchFamily="34" charset="-122"/>
                <a:cs typeface="Inter" pitchFamily="34" charset="-120"/>
              </a:rPr>
              <a:t>QAOA formulation · simulator studies · IBM hardware runs · quantum-kernel SVM comparison</a:t>
            </a:r>
            <a:endParaRPr lang="en-US" sz="1120" dirty="0"/>
          </a:p>
        </p:txBody>
      </p:sp>
      <p:sp>
        <p:nvSpPr>
          <p:cNvPr id="25" name="Shape 23"/>
          <p:cNvSpPr/>
          <p:nvPr/>
        </p:nvSpPr>
        <p:spPr>
          <a:xfrm>
            <a:off x="6565392" y="3685032"/>
            <a:ext cx="4636008" cy="0"/>
          </a:xfrm>
          <a:prstGeom prst="line">
            <a:avLst/>
          </a:prstGeom>
          <a:noFill/>
          <a:ln w="11430">
            <a:solidFill>
              <a:srgbClr val="394767"/>
            </a:solidFill>
            <a:prstDash val="solid"/>
            <a:headEnd type="none"/>
            <a:tailEnd type="none"/>
          </a:ln>
        </p:spPr>
        <p:txBody>
          <a:bodyPr/>
          <a:p/>
        </p:txBody>
      </p:sp>
      <p:sp>
        <p:nvSpPr>
          <p:cNvPr id="26" name="Text 24"/>
          <p:cNvSpPr txBox="1"/>
          <p:nvPr/>
        </p:nvSpPr>
        <p:spPr>
          <a:xfrm>
            <a:off x="6565392" y="3858768"/>
            <a:ext cx="2286000" cy="237744"/>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FFC96B"/>
                </a:solidFill>
                <a:latin typeface="Inter" pitchFamily="34" charset="0"/>
                <a:ea typeface="Inter" pitchFamily="34" charset="-122"/>
                <a:cs typeface="Inter" pitchFamily="34" charset="-120"/>
              </a:rPr>
              <a:t>We did not establish</a:t>
            </a:r>
            <a:endParaRPr lang="en-US" sz="1300" dirty="0"/>
          </a:p>
        </p:txBody>
      </p:sp>
      <p:sp>
        <p:nvSpPr>
          <p:cNvPr id="27" name="Text 25"/>
          <p:cNvSpPr txBox="1"/>
          <p:nvPr/>
        </p:nvSpPr>
        <p:spPr>
          <a:xfrm>
            <a:off x="6565392" y="4178808"/>
            <a:ext cx="4498848" cy="502920"/>
          </a:xfrm>
          <a:prstGeom prst="rect">
            <a:avLst/>
          </a:prstGeom>
          <a:noFill/>
          <a:ln/>
        </p:spPr>
        <p:txBody>
          <a:bodyPr wrap="square" lIns="0" tIns="0" rIns="0" bIns="0" rtlCol="0" anchor="t">
            <a:normAutofit/>
          </a:bodyPr>
          <a:lstStyle/>
          <a:p>
            <a:pPr algn="l" indent="0" marL="0">
              <a:lnSpc>
                <a:spcPct val="100000"/>
              </a:lnSpc>
              <a:buNone/>
            </a:pPr>
            <a:r>
              <a:rPr lang="en-US" sz="1120" dirty="0">
                <a:solidFill>
                  <a:srgbClr val="D8E1F1"/>
                </a:solidFill>
                <a:latin typeface="Inter" pitchFamily="34" charset="0"/>
                <a:ea typeface="Inter" pitchFamily="34" charset="-122"/>
                <a:cs typeface="Inter" pitchFamily="34" charset="-120"/>
              </a:rPr>
              <a:t>Quantum advantage, better-than-classical performance, or real-market investment value.</a:t>
            </a:r>
            <a:endParaRPr lang="en-US" sz="1120" dirty="0"/>
          </a:p>
        </p:txBody>
      </p:sp>
      <p:sp>
        <p:nvSpPr>
          <p:cNvPr id="28" name="Shape 26"/>
          <p:cNvSpPr/>
          <p:nvPr/>
        </p:nvSpPr>
        <p:spPr>
          <a:xfrm>
            <a:off x="566928" y="5321808"/>
            <a:ext cx="11027664" cy="877824"/>
          </a:xfrm>
          <a:prstGeom prst="roundRect">
            <a:avLst>
              <a:gd name="adj" fmla="val 14583"/>
            </a:avLst>
          </a:prstGeom>
          <a:solidFill>
            <a:srgbClr val="FFFFFF"/>
          </a:solidFill>
          <a:ln w="10160">
            <a:solidFill>
              <a:srgbClr val="DEE5F0"/>
            </a:solidFill>
            <a:prstDash val="solid"/>
          </a:ln>
        </p:spPr>
        <p:txBody>
          <a:bodyPr/>
          <a:p/>
        </p:txBody>
      </p:sp>
      <p:sp>
        <p:nvSpPr>
          <p:cNvPr id="29" name="Text 27"/>
          <p:cNvSpPr txBox="1"/>
          <p:nvPr/>
        </p:nvSpPr>
        <p:spPr>
          <a:xfrm>
            <a:off x="795528" y="5477256"/>
            <a:ext cx="1645920" cy="201168"/>
          </a:xfrm>
          <a:prstGeom prst="rect">
            <a:avLst/>
          </a:prstGeom>
          <a:noFill/>
          <a:ln/>
        </p:spPr>
        <p:txBody>
          <a:bodyPr wrap="square" lIns="0" tIns="0" rIns="0" bIns="0" rtlCol="0" anchor="ctr">
            <a:normAutofit/>
          </a:bodyPr>
          <a:lstStyle/>
          <a:p>
            <a:pPr algn="l" indent="0" marL="0">
              <a:lnSpc>
                <a:spcPct val="100000"/>
              </a:lnSpc>
              <a:buNone/>
            </a:pPr>
            <a:r>
              <a:rPr lang="en-US" sz="820" b="1" spc="40" kern="0" dirty="0">
                <a:solidFill>
                  <a:srgbClr val="8B98AE"/>
                </a:solidFill>
                <a:latin typeface="Inter" pitchFamily="34" charset="0"/>
                <a:ea typeface="Inter" pitchFamily="34" charset="-122"/>
                <a:cs typeface="Inter" pitchFamily="34" charset="-120"/>
              </a:rPr>
              <a:t>SELECTED REFERENCES</a:t>
            </a:r>
            <a:endParaRPr lang="en-US" sz="820" dirty="0"/>
          </a:p>
        </p:txBody>
      </p:sp>
      <p:sp>
        <p:nvSpPr>
          <p:cNvPr id="30" name="Text 28"/>
          <p:cNvSpPr txBox="1"/>
          <p:nvPr/>
        </p:nvSpPr>
        <p:spPr>
          <a:xfrm>
            <a:off x="2606040" y="5458968"/>
            <a:ext cx="8686800" cy="210312"/>
          </a:xfrm>
          <a:prstGeom prst="rect">
            <a:avLst/>
          </a:prstGeom>
          <a:noFill/>
          <a:ln/>
        </p:spPr>
        <p:txBody>
          <a:bodyPr wrap="square" lIns="0" tIns="0" rIns="0" bIns="0" rtlCol="0" anchor="ctr">
            <a:normAutofit/>
          </a:bodyPr>
          <a:lstStyle/>
          <a:p>
            <a:pPr algn="l" indent="0" marL="0">
              <a:lnSpc>
                <a:spcPct val="100000"/>
              </a:lnSpc>
              <a:buNone/>
            </a:pPr>
            <a:r>
              <a:rPr lang="en-US" sz="910" b="1" dirty="0">
                <a:solidFill>
                  <a:srgbClr val="202A40"/>
                </a:solidFill>
                <a:latin typeface="Inter" pitchFamily="34" charset="0"/>
                <a:ea typeface="Inter" pitchFamily="34" charset="-122"/>
                <a:cs typeface="Inter" pitchFamily="34" charset="-120"/>
              </a:rPr>
              <a:t>IBM Quantum: QAOA tutorial  ·  Qiskit Finance: Portfolio Optimization  ·  Qiskit ML: Quantum Kernel tutorial</a:t>
            </a:r>
            <a:endParaRPr lang="en-US" sz="910" dirty="0"/>
          </a:p>
        </p:txBody>
      </p:sp>
      <p:sp>
        <p:nvSpPr>
          <p:cNvPr id="31" name="Text 29"/>
          <p:cNvSpPr txBox="1"/>
          <p:nvPr/>
        </p:nvSpPr>
        <p:spPr>
          <a:xfrm>
            <a:off x="795528" y="5806440"/>
            <a:ext cx="10607040" cy="201168"/>
          </a:xfrm>
          <a:prstGeom prst="rect">
            <a:avLst/>
          </a:prstGeom>
          <a:noFill/>
          <a:ln/>
        </p:spPr>
        <p:txBody>
          <a:bodyPr wrap="square" lIns="0" tIns="0" rIns="0" bIns="0" rtlCol="0" anchor="ctr">
            <a:normAutofit/>
          </a:bodyPr>
          <a:lstStyle/>
          <a:p>
            <a:pPr algn="l" indent="0" marL="0">
              <a:lnSpc>
                <a:spcPct val="100000"/>
              </a:lnSpc>
              <a:buNone/>
            </a:pPr>
            <a:r>
              <a:rPr lang="en-US" sz="880" dirty="0">
                <a:solidFill>
                  <a:srgbClr val="5D6B84"/>
                </a:solidFill>
                <a:latin typeface="Inter" pitchFamily="34" charset="0"/>
                <a:ea typeface="Inter" pitchFamily="34" charset="-122"/>
                <a:cs typeface="Inter" pitchFamily="34" charset="-120"/>
              </a:rPr>
              <a:t>Havlíček et al. (2019), “Supervised learning with quantum-enhanced feature spaces,” Nature 567, 209–212. Full sources and experiment IDs: REFERENCES.md.</a:t>
            </a:r>
            <a:endParaRPr lang="en-US" sz="880" dirty="0"/>
          </a:p>
        </p:txBody>
      </p:sp>
      <p:sp>
        <p:nvSpPr>
          <p:cNvPr id="25" name="Slide Number Placeholder 0"/>
          <p:cNvSpPr>
            <a:spLocks noGrp="1"/>
          </p:cNvSpPr>
          <p:nvPr>
            <p:ph type="sldNum" sz="quarter" idx="4294967295"/>
          </p:nvPr>
        </p:nvSpPr>
        <p:spPr>
          <a:xfrm>
            <a:off x="11612880" y="2286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3718A"/>
                </a:solidFill>
                <a:latin typeface="Inter"/>
                <a:ea typeface="Inter"/>
                <a:cs typeface="Inter"/>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Qiskit Fall Fest 2026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Qubits to Portfolio Decisions</dc:title>
  <dc:subject>Qiskit Fall Fest 2026, Track 2: Quantum Optimization</dc:subject>
  <dc:creator>Rahul Kumar, Alden Antony, Krishna Aggarwal</dc:creator>
  <cp:lastModifiedBy>Rahul Kumar, Alden Antony, Krishna Aggarwal</cp:lastModifiedBy>
  <cp:revision>1</cp:revision>
  <dcterms:created xsi:type="dcterms:W3CDTF">2026-10-14T13:36:18Z</dcterms:created>
  <dcterms:modified xsi:type="dcterms:W3CDTF">2026-10-14T13:36:18Z</dcterms:modified>
</cp:coreProperties>
</file>