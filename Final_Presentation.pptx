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80" y="594360"/>
            <a:ext cx="2148840" cy="2148840"/>
          </a:xfrm>
          <a:prstGeom prst="ellipse">
            <a:avLst/>
          </a:prstGeom>
          <a:solidFill>
            <a:srgbClr val="3A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64040" y="1965960"/>
            <a:ext cx="1417320" cy="1417320"/>
          </a:xfrm>
          <a:prstGeom prst="ellipse">
            <a:avLst/>
          </a:prstGeom>
          <a:solidFill>
            <a:srgbClr val="7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92440" y="3337560"/>
            <a:ext cx="914400" cy="914400"/>
          </a:xfrm>
          <a:prstGeom prst="ellipse">
            <a:avLst/>
          </a:prstGeom>
          <a:solidFill>
            <a:srgbClr val="FFC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4160520"/>
            <a:ext cx="566928" cy="566928"/>
          </a:xfrm>
          <a:prstGeom prst="ellipse">
            <a:avLst/>
          </a:prstGeom>
          <a:solidFill>
            <a:srgbClr val="3A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06840" y="4983480"/>
            <a:ext cx="347472" cy="347472"/>
          </a:xfrm>
          <a:prstGeom prst="ellipse">
            <a:avLst/>
          </a:prstGeom>
          <a:solidFill>
            <a:srgbClr val="7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092440" y="1280160"/>
            <a:ext cx="2423160" cy="3703320"/>
          </a:xfrm>
          <a:prstGeom prst="line">
            <a:avLst/>
          </a:prstGeom>
          <a:ln w="17780">
            <a:solidFill>
              <a:srgbClr val="2B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869680" y="914400"/>
            <a:ext cx="1097280" cy="4297680"/>
          </a:xfrm>
          <a:prstGeom prst="line">
            <a:avLst/>
          </a:prstGeom>
          <a:ln w="17780">
            <a:solidFill>
              <a:srgbClr val="2B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621792"/>
            <a:ext cx="2468880" cy="292608"/>
          </a:xfrm>
          <a:prstGeom prst="roundRect">
            <a:avLst/>
          </a:prstGeom>
          <a:solidFill>
            <a:srgbClr val="162B4A"/>
          </a:solidFill>
          <a:ln w="10160">
            <a:solidFill>
              <a:srgbClr val="3A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653796"/>
            <a:ext cx="2340864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DCC7"/>
                </a:solidFill>
                <a:latin typeface="Aptos"/>
              </a:rPr>
              <a:t>TRACK 2  ·  QUANTUM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25880"/>
            <a:ext cx="7132320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5F8FC"/>
                </a:solidFill>
                <a:latin typeface="Aptos"/>
              </a:rPr>
              <a:t>From Portfolios
to Quantum Circuits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962656"/>
            <a:ext cx="65836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B8C6DA"/>
                </a:solidFill>
                <a:latin typeface="Aptos"/>
              </a:rPr>
              <a:t>A practical study of QAOA and quantum machine learning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041648"/>
            <a:ext cx="6675120" cy="1188720"/>
          </a:xfrm>
          <a:prstGeom prst="roundRect">
            <a:avLst/>
          </a:prstGeom>
          <a:solidFill>
            <a:srgbClr val="12223D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224528"/>
            <a:ext cx="1554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CA6B"/>
                </a:solidFill>
                <a:latin typeface="Aptos"/>
              </a:rPr>
              <a:t>SUPERPOSITION SQUAD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562856"/>
            <a:ext cx="594360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Rahul Kumar  ·  Alden Antony  ·  Krishna Aggarwal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897880"/>
            <a:ext cx="5760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C6DA"/>
                </a:solidFill>
                <a:latin typeface="Aptos"/>
              </a:rPr>
              <a:t>IIIT Delhi  ·  16 October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92240"/>
            <a:ext cx="4389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DCC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8580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ADCC7"/>
                </a:solidFill>
                <a:latin typeface="Aptos"/>
              </a:rPr>
              <a:t>01 ·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8FC"/>
                </a:solidFill>
                <a:latin typeface="Aptos"/>
              </a:rPr>
              <a:t>One problem, three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10972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C6DA"/>
                </a:solidFill>
                <a:latin typeface="Aptos"/>
              </a:rPr>
              <a:t>We use small, controlled portfolios so we can check our results against a classical answer.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1024128" cy="41148"/>
          </a:xfrm>
          <a:prstGeom prst="rect">
            <a:avLst/>
          </a:prstGeom>
          <a:solidFill>
            <a:srgbClr val="3A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91440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58CAD"/>
                </a:solidFill>
                <a:latin typeface="Aptos"/>
              </a:rPr>
              <a:t>SUPERPOSITION SQUAD  ·  QISKIT FALL FEST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389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DCC7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3429000" cy="1417320"/>
          </a:xfrm>
          <a:prstGeom prst="roundRect">
            <a:avLst/>
          </a:prstGeom>
          <a:solidFill>
            <a:srgbClr val="12223D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47088"/>
            <a:ext cx="59436" cy="1380744"/>
          </a:xfrm>
          <a:prstGeom prst="rect">
            <a:avLst/>
          </a:prstGeom>
          <a:solidFill>
            <a:srgbClr val="3A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75104"/>
            <a:ext cx="309981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9152"/>
            <a:ext cx="3099816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C6DA"/>
                </a:solidFill>
                <a:latin typeface="Aptos"/>
              </a:rPr>
              <a:t>Choose a set of stocks that balances expected return and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29000" cy="1417320"/>
          </a:xfrm>
          <a:prstGeom prst="roundRect">
            <a:avLst/>
          </a:prstGeom>
          <a:solidFill>
            <a:srgbClr val="12223D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47088"/>
            <a:ext cx="59436" cy="1380744"/>
          </a:xfrm>
          <a:prstGeom prst="rect">
            <a:avLst/>
          </a:prstGeom>
          <a:solidFill>
            <a:srgbClr val="7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75104"/>
            <a:ext cx="309981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The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59152"/>
            <a:ext cx="3099816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C6DA"/>
                </a:solidFill>
                <a:latin typeface="Aptos"/>
              </a:rPr>
              <a:t>All stock values are synthetic, so the experiments are repeatable.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828800"/>
            <a:ext cx="3429000" cy="1417320"/>
          </a:xfrm>
          <a:prstGeom prst="roundRect">
            <a:avLst/>
          </a:prstGeom>
          <a:solidFill>
            <a:srgbClr val="12223D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2" y="1847088"/>
            <a:ext cx="59436" cy="1380744"/>
          </a:xfrm>
          <a:prstGeom prst="rect">
            <a:avLst/>
          </a:prstGeom>
          <a:solidFill>
            <a:srgbClr val="FFC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975104"/>
            <a:ext cx="309981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The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359152"/>
            <a:ext cx="3099816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C6DA"/>
                </a:solidFill>
                <a:latin typeface="Aptos"/>
              </a:rPr>
              <a:t>A lower objective cost is better, but the portfolio must obey the constraints.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75887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ADCC7"/>
                </a:solidFill>
                <a:latin typeface="Aptos"/>
              </a:rPr>
              <a:t>OUR THREE LEVELS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023360"/>
            <a:ext cx="3429000" cy="1417320"/>
          </a:xfrm>
          <a:prstGeom prst="roundRect">
            <a:avLst/>
          </a:prstGeom>
          <a:solidFill>
            <a:srgbClr val="12223D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041648"/>
            <a:ext cx="59436" cy="1380744"/>
          </a:xfrm>
          <a:prstGeom prst="rect">
            <a:avLst/>
          </a:prstGeom>
          <a:solidFill>
            <a:srgbClr val="3A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4169664"/>
            <a:ext cx="309981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BEGINNER · QAOA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553712"/>
            <a:ext cx="3099816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C6DA"/>
                </a:solidFill>
                <a:latin typeface="Aptos"/>
              </a:rPr>
              <a:t>6 stocks → choose 3
Compare all 20 portfolios.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023360"/>
            <a:ext cx="3429000" cy="1417320"/>
          </a:xfrm>
          <a:prstGeom prst="roundRect">
            <a:avLst/>
          </a:prstGeom>
          <a:solidFill>
            <a:srgbClr val="12223D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4041648"/>
            <a:ext cx="59436" cy="1380744"/>
          </a:xfrm>
          <a:prstGeom prst="rect">
            <a:avLst/>
          </a:prstGeom>
          <a:solidFill>
            <a:srgbClr val="7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169664"/>
            <a:ext cx="309981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INTERMEDIATE · QML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553712"/>
            <a:ext cx="3099816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C6DA"/>
                </a:solidFill>
                <a:latin typeface="Aptos"/>
              </a:rPr>
              <a:t>12 stocks → choose 6
Compare quantum and classical SVMs.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2" y="4023360"/>
            <a:ext cx="3429000" cy="1417320"/>
          </a:xfrm>
          <a:prstGeom prst="roundRect">
            <a:avLst/>
          </a:prstGeom>
          <a:solidFill>
            <a:srgbClr val="12223D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19872" y="4041648"/>
            <a:ext cx="59436" cy="1380744"/>
          </a:xfrm>
          <a:prstGeom prst="rect">
            <a:avLst/>
          </a:prstGeom>
          <a:solidFill>
            <a:srgbClr val="FFC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4169664"/>
            <a:ext cx="309981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ADVANCED · QAOA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4553712"/>
            <a:ext cx="3099816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C6DA"/>
                </a:solidFill>
                <a:latin typeface="Aptos"/>
              </a:rPr>
              <a:t>20 stocks → choose 10
Add limits for five sectors.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742432"/>
            <a:ext cx="106984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Our approach: solve classically → test quantum methods → compare the measured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8580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ADCC7"/>
                </a:solidFill>
                <a:latin typeface="Aptos"/>
              </a:rPr>
              <a:t>02 · BEGINNER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8FC"/>
                </a:solidFill>
                <a:latin typeface="Aptos"/>
              </a:rPr>
              <a:t>Can QAOA find a known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10972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C6DA"/>
                </a:solidFill>
                <a:latin typeface="Aptos"/>
              </a:rPr>
              <a:t>Six stocks; choose three. This gives only 20 possible portfolios, so we can find the exact answer classically.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1024128" cy="41148"/>
          </a:xfrm>
          <a:prstGeom prst="rect">
            <a:avLst/>
          </a:prstGeom>
          <a:solidFill>
            <a:srgbClr val="3A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91440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58CAD"/>
                </a:solidFill>
                <a:latin typeface="Aptos"/>
              </a:rPr>
              <a:t>SUPERPOSITION SQUAD  ·  QISKIT FALL FEST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389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DCC7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3383280" cy="1874519"/>
          </a:xfrm>
          <a:prstGeom prst="roundRect">
            <a:avLst/>
          </a:prstGeom>
          <a:solidFill>
            <a:srgbClr val="12223D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47088"/>
            <a:ext cx="59436" cy="1837943"/>
          </a:xfrm>
          <a:prstGeom prst="rect">
            <a:avLst/>
          </a:prstGeom>
          <a:solidFill>
            <a:srgbClr val="3A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75104"/>
            <a:ext cx="305409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CLASSICAL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9152"/>
            <a:ext cx="3054096" cy="123443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8C6DA"/>
                </a:solidFill>
                <a:latin typeface="Aptos"/>
              </a:rPr>
              <a:t>Stock 2 · Stock 3 · Stock 6
Best cost: −0.503015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8808" y="1828800"/>
            <a:ext cx="3383280" cy="1874519"/>
          </a:xfrm>
          <a:prstGeom prst="roundRect">
            <a:avLst/>
          </a:prstGeom>
          <a:solidFill>
            <a:srgbClr val="12223D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8808" y="1847088"/>
            <a:ext cx="59436" cy="1837943"/>
          </a:xfrm>
          <a:prstGeom prst="rect">
            <a:avLst/>
          </a:prstGeom>
          <a:solidFill>
            <a:srgbClr val="7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975104"/>
            <a:ext cx="305409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SIMULATOR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359152"/>
            <a:ext cx="3054096" cy="123443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C6DA"/>
                </a:solidFill>
                <a:latin typeface="Aptos"/>
              </a:rPr>
              <a:t>4,096 shots
2,783 valid portfolios
67.94% valid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9248" y="1828800"/>
            <a:ext cx="3657600" cy="1874519"/>
          </a:xfrm>
          <a:prstGeom prst="roundRect">
            <a:avLst/>
          </a:prstGeom>
          <a:solidFill>
            <a:srgbClr val="12223D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9248" y="1847088"/>
            <a:ext cx="59436" cy="1837943"/>
          </a:xfrm>
          <a:prstGeom prst="rect">
            <a:avLst/>
          </a:prstGeom>
          <a:solidFill>
            <a:srgbClr val="FFC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2127" y="1975104"/>
            <a:ext cx="332841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IBM 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7" y="2359152"/>
            <a:ext cx="3328416" cy="123443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C6DA"/>
                </a:solidFill>
                <a:latin typeface="Aptos"/>
              </a:rPr>
              <a:t>1,024 shots
609 valid portfolios
59.47% valid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041648"/>
            <a:ext cx="10698480" cy="960120"/>
          </a:xfrm>
          <a:prstGeom prst="roundRect">
            <a:avLst/>
          </a:prstGeom>
          <a:solidFill>
            <a:srgbClr val="162B4A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61104"/>
            <a:ext cx="2057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ADCC7"/>
                </a:solidFill>
                <a:latin typeface="Aptos"/>
              </a:rPr>
              <a:t>THE KEY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197096"/>
            <a:ext cx="80924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The exact best portfolio appeared 29 times in 1,024 hardware shots (2.83%).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349240"/>
            <a:ext cx="106070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C6DA"/>
                </a:solidFill>
                <a:latin typeface="Aptos"/>
              </a:rPr>
              <a:t>A “shot” is one circuit run and measurement. The best observed sample matched the classical answer, but most shots did not return that exact portfolio.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925312"/>
            <a:ext cx="105156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58CAD"/>
                </a:solidFill>
                <a:latin typeface="Aptos"/>
              </a:rPr>
              <a:t>IBM job: db7mlh0r1c5c738kspdg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8580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ADCC7"/>
                </a:solidFill>
                <a:latin typeface="Aptos"/>
              </a:rPr>
              <a:t>03 · INTERMEDIATE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8FC"/>
                </a:solidFill>
                <a:latin typeface="Aptos"/>
              </a:rPr>
              <a:t>Why explore quantum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10972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C6DA"/>
                </a:solidFill>
                <a:latin typeface="Aptos"/>
              </a:rPr>
              <a:t>Here we ask a different question: can a quantum-state representation help compare candidate portfolios?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1024128" cy="41148"/>
          </a:xfrm>
          <a:prstGeom prst="rect">
            <a:avLst/>
          </a:prstGeom>
          <a:solidFill>
            <a:srgbClr val="3A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91440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58CAD"/>
                </a:solidFill>
                <a:latin typeface="Aptos"/>
              </a:rPr>
              <a:t>SUPERPOSITION SQUAD  ·  QISKIT FALL FEST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389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DCC7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2514600" cy="1645920"/>
          </a:xfrm>
          <a:prstGeom prst="roundRect">
            <a:avLst/>
          </a:prstGeom>
          <a:solidFill>
            <a:srgbClr val="12223D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47088"/>
            <a:ext cx="59436" cy="1609344"/>
          </a:xfrm>
          <a:prstGeom prst="rect">
            <a:avLst/>
          </a:prstGeom>
          <a:solidFill>
            <a:srgbClr val="3A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75104"/>
            <a:ext cx="218541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1 · Encode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9152"/>
            <a:ext cx="2185416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C6DA"/>
                </a:solidFill>
                <a:latin typeface="Aptos"/>
              </a:rPr>
              <a:t>Represent each portfolio as a 12-value input and map it to a quantum 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828800"/>
            <a:ext cx="2514600" cy="1645920"/>
          </a:xfrm>
          <a:prstGeom prst="roundRect">
            <a:avLst/>
          </a:prstGeom>
          <a:solidFill>
            <a:srgbClr val="12223D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847088"/>
            <a:ext cx="59436" cy="1609344"/>
          </a:xfrm>
          <a:prstGeom prst="rect">
            <a:avLst/>
          </a:prstGeom>
          <a:solidFill>
            <a:srgbClr val="7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975104"/>
            <a:ext cx="218541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2 · 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359152"/>
            <a:ext cx="2185416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C6DA"/>
                </a:solidFill>
                <a:latin typeface="Aptos"/>
              </a:rPr>
              <a:t>A fidelity score measures how similar two encoded quantum states 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16752" y="1828800"/>
            <a:ext cx="2514600" cy="1645920"/>
          </a:xfrm>
          <a:prstGeom prst="roundRect">
            <a:avLst/>
          </a:prstGeom>
          <a:solidFill>
            <a:srgbClr val="12223D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16752" y="1847088"/>
            <a:ext cx="59436" cy="1609344"/>
          </a:xfrm>
          <a:prstGeom prst="rect">
            <a:avLst/>
          </a:prstGeom>
          <a:solidFill>
            <a:srgbClr val="FFC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1975104"/>
            <a:ext cx="218541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3 · Classify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2359152"/>
            <a:ext cx="2185416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C6DA"/>
                </a:solidFill>
                <a:latin typeface="Aptos"/>
              </a:rPr>
              <a:t>An SVM uses the similarity scores to classify selected good/poor examples.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95944" y="1828800"/>
            <a:ext cx="2606040" cy="1645920"/>
          </a:xfrm>
          <a:prstGeom prst="roundRect">
            <a:avLst/>
          </a:prstGeom>
          <a:solidFill>
            <a:srgbClr val="12223D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95944" y="1847088"/>
            <a:ext cx="59436" cy="1609344"/>
          </a:xfrm>
          <a:prstGeom prst="rect">
            <a:avLst/>
          </a:prstGeom>
          <a:solidFill>
            <a:srgbClr val="78E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78824" y="1975104"/>
            <a:ext cx="227685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4 ·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2359152"/>
            <a:ext cx="2276856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C6DA"/>
                </a:solidFill>
                <a:latin typeface="Aptos"/>
              </a:rPr>
              <a:t>Compare with a standard classical SVM using an RBF kernel.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58768"/>
            <a:ext cx="5166360" cy="1325880"/>
          </a:xfrm>
          <a:prstGeom prst="roundRect">
            <a:avLst/>
          </a:prstGeom>
          <a:solidFill>
            <a:srgbClr val="12223D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77055"/>
            <a:ext cx="59436" cy="1289304"/>
          </a:xfrm>
          <a:prstGeom prst="rect">
            <a:avLst/>
          </a:prstGeom>
          <a:solidFill>
            <a:srgbClr val="7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4005072"/>
            <a:ext cx="483717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Initial classification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389120"/>
            <a:ext cx="4837176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C6DA"/>
                </a:solidFill>
                <a:latin typeface="Aptos"/>
              </a:rPr>
              <a:t>Quantum-kernel SVM: 100% accuracy
Classical RBF-SVM: 100% accuracy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53328" y="3858768"/>
            <a:ext cx="5248656" cy="1325880"/>
          </a:xfrm>
          <a:prstGeom prst="roundRect">
            <a:avLst/>
          </a:prstGeom>
          <a:solidFill>
            <a:srgbClr val="12223D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53328" y="3877055"/>
            <a:ext cx="59436" cy="1289304"/>
          </a:xfrm>
          <a:prstGeom prst="rect">
            <a:avLst/>
          </a:prstGeom>
          <a:solidFill>
            <a:srgbClr val="FFC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8" y="4005072"/>
            <a:ext cx="491947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Ranking comparison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4389120"/>
            <a:ext cx="4919472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C6DA"/>
                </a:solidFill>
                <a:latin typeface="Aptos"/>
              </a:rPr>
              <a:t>Mean rank correlation: quantum 0.9469; classical 0.9563. The classical model ranked the optimum first in all five recorded tests.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440680"/>
            <a:ext cx="10561320" cy="4663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Important: this was synthetic, filtered data. The IBM run was a separate 2-qubit demonstration—not the full 12-qubit QML model.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971032"/>
            <a:ext cx="10515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58CAD"/>
                </a:solidFill>
                <a:latin typeface="Aptos"/>
              </a:rPr>
              <a:t>IBM demo job: db7n3e0r1c5c738ktlbg  ·  512 shots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8580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ADCC7"/>
                </a:solidFill>
                <a:latin typeface="Aptos"/>
              </a:rPr>
              <a:t>04 ·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8FC"/>
                </a:solidFill>
                <a:latin typeface="Aptos"/>
              </a:rPr>
              <a:t>More constraints, harder hardware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10972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C6DA"/>
                </a:solidFill>
                <a:latin typeface="Aptos"/>
              </a:rPr>
              <a:t>20 stocks across five sectors. Select 10 stocks, with no more than two from any sector.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1024128" cy="41148"/>
          </a:xfrm>
          <a:prstGeom prst="rect">
            <a:avLst/>
          </a:prstGeom>
          <a:solidFill>
            <a:srgbClr val="3A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91440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58CAD"/>
                </a:solidFill>
                <a:latin typeface="Aptos"/>
              </a:rPr>
              <a:t>SUPERPOSITION SQUAD  ·  QISKIT FALL FEST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389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DCC7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10512"/>
            <a:ext cx="3383280" cy="1508760"/>
          </a:xfrm>
          <a:prstGeom prst="roundRect">
            <a:avLst/>
          </a:prstGeom>
          <a:solidFill>
            <a:srgbClr val="12223D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28800"/>
            <a:ext cx="59436" cy="1472184"/>
          </a:xfrm>
          <a:prstGeom prst="rect">
            <a:avLst/>
          </a:prstGeom>
          <a:solidFill>
            <a:srgbClr val="3A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56816"/>
            <a:ext cx="305409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CLASSICAL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40864"/>
            <a:ext cx="3054096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C6DA"/>
                </a:solidFill>
                <a:latin typeface="Aptos"/>
              </a:rPr>
              <a:t>7,776 feasible portfolios checked
Best cost: −1.111739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8808" y="1810512"/>
            <a:ext cx="3383280" cy="1508760"/>
          </a:xfrm>
          <a:prstGeom prst="roundRect">
            <a:avLst/>
          </a:prstGeom>
          <a:solidFill>
            <a:srgbClr val="12223D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8808" y="1828800"/>
            <a:ext cx="59436" cy="1472184"/>
          </a:xfrm>
          <a:prstGeom prst="rect">
            <a:avLst/>
          </a:prstGeom>
          <a:solidFill>
            <a:srgbClr val="7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956816"/>
            <a:ext cx="305409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SIMULATOR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340864"/>
            <a:ext cx="3054096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C6DA"/>
                </a:solidFill>
                <a:latin typeface="Aptos"/>
              </a:rPr>
              <a:t>4,096 shots
10.30% valid
Best cost matched the optimum once.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9248" y="1810512"/>
            <a:ext cx="3657600" cy="1508760"/>
          </a:xfrm>
          <a:prstGeom prst="roundRect">
            <a:avLst/>
          </a:prstGeom>
          <a:solidFill>
            <a:srgbClr val="12223D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9248" y="1828800"/>
            <a:ext cx="59436" cy="1472184"/>
          </a:xfrm>
          <a:prstGeom prst="rect">
            <a:avLst/>
          </a:prstGeom>
          <a:solidFill>
            <a:srgbClr val="FF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2127" y="1956816"/>
            <a:ext cx="332841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IBM 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7" y="2340864"/>
            <a:ext cx="3328416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C6DA"/>
                </a:solidFill>
                <a:latin typeface="Aptos"/>
              </a:rPr>
              <a:t>256 shots
1 valid portfolio (0.39%)
Exact optimum: 0 hits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611880"/>
            <a:ext cx="10698480" cy="1097280"/>
          </a:xfrm>
          <a:prstGeom prst="roundRect">
            <a:avLst/>
          </a:prstGeom>
          <a:solidFill>
            <a:srgbClr val="162B4A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822191"/>
            <a:ext cx="2057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CA6B"/>
                </a:solidFill>
                <a:latin typeface="Aptos"/>
              </a:rPr>
              <a:t>COMPILED CIRCUIT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767328"/>
            <a:ext cx="1828800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Depth 680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6864" y="3767328"/>
            <a:ext cx="1874519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938 CZ gates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3730752"/>
            <a:ext cx="438912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C6DA"/>
                </a:solidFill>
                <a:latin typeface="Aptos"/>
              </a:rPr>
              <a:t>Deeper circuits may collect more gate errors; noise is a plausible factor, not the only proven cause.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010912"/>
            <a:ext cx="1060704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Best valid hardware cost: −0.794773; gap from classical optimum: 0.316966. Pilot parameter search reached its evaluation limit, so convergence was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879592"/>
            <a:ext cx="105156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58CAD"/>
                </a:solidFill>
                <a:latin typeface="Aptos"/>
              </a:rPr>
              <a:t>IBM job: db7n9iuil99s73fogb5g  ·  256 shots  ·  20 logical decision qubits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8580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ADCC7"/>
                </a:solidFill>
                <a:latin typeface="Aptos"/>
              </a:rPr>
              <a:t>05 ·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8FC"/>
                </a:solidFill>
                <a:latin typeface="Aptos"/>
              </a:rPr>
              <a:t>What did we learn?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10972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C6DA"/>
                </a:solidFill>
                <a:latin typeface="Aptos"/>
              </a:rPr>
              <a:t>A useful quantum experiment is more than running a circuit: we must validate and interpret its output.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1024128" cy="41148"/>
          </a:xfrm>
          <a:prstGeom prst="rect">
            <a:avLst/>
          </a:prstGeom>
          <a:solidFill>
            <a:srgbClr val="3A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91440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58CAD"/>
                </a:solidFill>
                <a:latin typeface="Aptos"/>
              </a:rPr>
              <a:t>SUPERPOSITION SQUAD  ·  QISKIT FALL FEST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389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DCC7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3429000" cy="1344168"/>
          </a:xfrm>
          <a:prstGeom prst="roundRect">
            <a:avLst/>
          </a:prstGeom>
          <a:solidFill>
            <a:srgbClr val="12223D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47088"/>
            <a:ext cx="59436" cy="1307592"/>
          </a:xfrm>
          <a:prstGeom prst="rect">
            <a:avLst/>
          </a:prstGeom>
          <a:solidFill>
            <a:srgbClr val="3A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75104"/>
            <a:ext cx="309981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1 · Check classically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9152"/>
            <a:ext cx="3099816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C6DA"/>
                </a:solidFill>
                <a:latin typeface="Aptos"/>
              </a:rPr>
              <a:t>Exact search tells us how good a measured portfolio really 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29000" cy="1344168"/>
          </a:xfrm>
          <a:prstGeom prst="roundRect">
            <a:avLst/>
          </a:prstGeom>
          <a:solidFill>
            <a:srgbClr val="12223D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47088"/>
            <a:ext cx="59436" cy="1307592"/>
          </a:xfrm>
          <a:prstGeom prst="rect">
            <a:avLst/>
          </a:prstGeom>
          <a:solidFill>
            <a:srgbClr val="7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75104"/>
            <a:ext cx="309981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2 · Check feasibility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59152"/>
            <a:ext cx="3099816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C6DA"/>
                </a:solidFill>
                <a:latin typeface="Aptos"/>
              </a:rPr>
              <a:t>A low cost is useful only if the portfolio follows the rules.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828800"/>
            <a:ext cx="3429000" cy="1344168"/>
          </a:xfrm>
          <a:prstGeom prst="roundRect">
            <a:avLst/>
          </a:prstGeom>
          <a:solidFill>
            <a:srgbClr val="12223D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2" y="1847088"/>
            <a:ext cx="59436" cy="1307592"/>
          </a:xfrm>
          <a:prstGeom prst="rect">
            <a:avLst/>
          </a:prstGeom>
          <a:solidFill>
            <a:srgbClr val="FFC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975104"/>
            <a:ext cx="309981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3 · Check 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359152"/>
            <a:ext cx="3099816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C6DA"/>
                </a:solidFill>
                <a:latin typeface="Aptos"/>
              </a:rPr>
              <a:t>Shots, depth, and noise affect what we observe.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675887"/>
            <a:ext cx="10698480" cy="1024128"/>
          </a:xfrm>
          <a:prstGeom prst="roundRect">
            <a:avLst/>
          </a:prstGeom>
          <a:solidFill>
            <a:srgbClr val="162B4A"/>
          </a:solidFill>
          <a:ln w="10160">
            <a:solidFill>
              <a:srgbClr val="2B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77056"/>
            <a:ext cx="1001268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We demonstrated QAOA, quantum-kernel learning, simulation, and real IBM hardware runs. We did not demonstrate quantum advantage.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102352"/>
            <a:ext cx="105156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C6DA"/>
                </a:solidFill>
                <a:latin typeface="Aptos"/>
              </a:rPr>
              <a:t>Next: improve parameter search, test constraint-aware circuits, and run repeated, controlled comparisons.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760720"/>
            <a:ext cx="105156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ADCC7"/>
                </a:solidFill>
                <a:latin typeface="Aptos"/>
              </a:rPr>
              <a:t>Thank you  ·  Questions?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6208776"/>
            <a:ext cx="10515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58CAD"/>
                </a:solidFill>
                <a:latin typeface="Aptos"/>
              </a:rPr>
              <a:t>Superposition Squad  ·  Rahul Kumar, Alden Antony, Krishna Aggarwal  ·  16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Portfolios to Quantum Circuits - Superposition Squad</dc:title>
  <dc:subject>Five-minute Qiskit Fall Fest 2026 presentation</dc:subject>
  <dc:creator>Superposition Squad</dc:creator>
  <cp:keywords>Qiskit, QAOA, QML, IBM Quantum, portfolio optimization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